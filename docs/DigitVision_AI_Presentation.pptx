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Introduces the project title, institutional affiliation, team members, and overall academic-engineering scope of DigitVision AI.</a:t>
            </a:r>
          </a:p>
          <a:p/>
          <a:p>
            <a:r>
              <a:t>2. WHY IT MATTERS:</a:t>
            </a:r>
          </a:p>
          <a:p>
            <a:r>
              <a:t>Frames the presentation as an evidence-backed, rigorous engineering effort that goes beyond standard classification to offer confidence calibration and visual explainability.</a:t>
            </a:r>
          </a:p>
          <a:p/>
          <a:p>
            <a:r>
              <a:t>3. TECHNICAL EXPLANATION:</a:t>
            </a:r>
          </a:p>
          <a:p>
            <a:r>
              <a:t>DigitVision AI couples a dual-block 2D CNN with a canonical 7-stage preprocessing pipeline, post-hoc temperature scaling, Shannon entropy diagnostics, and Grad-CAM saliency heatmaps.</a:t>
            </a:r>
          </a:p>
          <a:p/>
          <a:p>
            <a:r>
              <a:t>4. LIKELY VIVA QUESTION:</a:t>
            </a:r>
          </a:p>
          <a:p>
            <a:r>
              <a:t>Q: What distinguishes DigitVision AI from an ordinary MNIST classifier?</a:t>
            </a:r>
          </a:p>
          <a:p/>
          <a:p>
            <a:r>
              <a:t>5. STRONG ANSWER:</a:t>
            </a:r>
          </a:p>
          <a:p>
            <a:r>
              <a:t>A: Standard projects merely predict top-1 classes from pre-centered images. DigitVision AI enforces a mathematical preprocessing invariant for live canvas drawings, calibrates probabilities via temperature scaling, computes epistemic entropy, and renders real-time Grad-CAM saliency maps.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Articulates the three core failure modes: train-inference skew, overconfident uncalibrated softmax outputs, and black-box opacity.</a:t>
            </a:r>
          </a:p>
          <a:p/>
          <a:p>
            <a:r>
              <a:t>2. WHY IT MATTERS:</a:t>
            </a:r>
          </a:p>
          <a:p>
            <a:r>
              <a:t>Proves deep awareness of why high laboratory test accuracy often collapses in production interactive environments.</a:t>
            </a:r>
          </a:p>
          <a:p/>
          <a:p>
            <a:r>
              <a:t>3. TECHNICAL EXPLANATION:</a:t>
            </a:r>
          </a:p>
          <a:p>
            <a:r>
              <a:t>Convolutional receptive fields require spatial normalization. In the absence of center-of-mass centering and bounding-box scaling, filters fire on background zero-weights.</a:t>
            </a:r>
          </a:p>
          <a:p/>
          <a:p>
            <a:r>
              <a:t>4. LIKELY VIVA QUESTION:</a:t>
            </a:r>
          </a:p>
          <a:p>
            <a:r>
              <a:t>Q: Why does a 99% accurate MNIST CNN fail when given an off-center drawing from a web canvas?</a:t>
            </a:r>
          </a:p>
          <a:p/>
          <a:p>
            <a:r>
              <a:t>5. STRONG ANSWER:</a:t>
            </a:r>
          </a:p>
          <a:p>
            <a:r>
              <a:t>A: Because standard convolutional layers with pooling are only invariant to small pixel shifts, not global translation or scale changes. Without moment-based centroid alignment, features are spatially misaligned with learned kernel weights.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Explains the foundational motivation behind DigitVision AI, highlighting why safety-critical applications demand calibrated confidence and explainability.</a:t>
            </a:r>
          </a:p>
          <a:p/>
          <a:p>
            <a:r>
              <a:t>2. WHY IT MATTERS:</a:t>
            </a:r>
          </a:p>
          <a:p>
            <a:r>
              <a:t>Connects academic machine learning to real-world deployment challenges where silent failures are intolerable.</a:t>
            </a:r>
          </a:p>
          <a:p/>
          <a:p>
            <a:r>
              <a:t>3. TECHNICAL EXPLANATION:</a:t>
            </a:r>
          </a:p>
          <a:p>
            <a:r>
              <a:t>Raw deep neural network outputs frequently produce uncalibrated overconfidence due to cross-entropy over-parameterization. Calibrating logits and computing entropy provides an epistemic safety threshold.</a:t>
            </a:r>
          </a:p>
          <a:p/>
          <a:p>
            <a:r>
              <a:t>4. LIKELY VIVA QUESTION:</a:t>
            </a:r>
          </a:p>
          <a:p>
            <a:r>
              <a:t>Q: What is the danger of relying on raw softmax probabilities for decision making?</a:t>
            </a:r>
          </a:p>
          <a:p/>
          <a:p>
            <a:r>
              <a:t>5. STRONG ANSWER:</a:t>
            </a:r>
          </a:p>
          <a:p>
            <a:r>
              <a:t>A: Modern deep networks trained with negative log-likelihood are prone to overconfidence because cross-entropy encourages driving output logits to extreme values, yielding near-100% probabilities even on out-of-distribution or corrupted samples.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the 7 concrete, executable engineering and research objectives established prior to model training.</a:t>
            </a:r>
          </a:p>
          <a:p/>
          <a:p>
            <a:r>
              <a:t>2. WHY IT MATTERS:</a:t>
            </a:r>
          </a:p>
          <a:p>
            <a:r>
              <a:t>Establishes transparent evaluation benchmarks and proves that all project claims are tied to predefined measurable targets.</a:t>
            </a:r>
          </a:p>
          <a:p/>
          <a:p>
            <a:r>
              <a:t>3. TECHNICAL EXPLANATION:</a:t>
            </a:r>
          </a:p>
          <a:p>
            <a:r>
              <a:t>Every objective is directly validated by reproducible code artifacts in the repository and verified in Table 9.1 of the final report.</a:t>
            </a:r>
          </a:p>
          <a:p/>
          <a:p>
            <a:r>
              <a:t>4. LIKELY VIVA QUESTION:</a:t>
            </a:r>
          </a:p>
          <a:p>
            <a:r>
              <a:t>Q: What was the pre-defined success criterion, and how did you select it?</a:t>
            </a:r>
          </a:p>
          <a:p/>
          <a:p>
            <a:r>
              <a:t>5. STRONG ANSWER:</a:t>
            </a:r>
          </a:p>
          <a:p>
            <a:r>
              <a:t>A: The success criterion was set at &gt;=95.0% test accuracy and &gt;=0.950 macro F1-score on the held-out 10,000 test set. This was selected because 95% represents the operational threshold for reliable digit recognition, which our DeepConvNet exceeded by achieving 98.31%.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Defines the formal mathematical framework: tensor input space, categorical label space, loss formulation, and metric definitions.</a:t>
            </a:r>
          </a:p>
          <a:p/>
          <a:p>
            <a:r>
              <a:t>2. WHY IT MATTERS:</a:t>
            </a:r>
          </a:p>
          <a:p>
            <a:r>
              <a:t>Grounds the implementation in sound statistical machine learning theory rather than informal heuristics.</a:t>
            </a:r>
          </a:p>
          <a:p/>
          <a:p>
            <a:r>
              <a:t>3. TECHNICAL EXPLANATION:</a:t>
            </a:r>
          </a:p>
          <a:p>
            <a:r>
              <a:t>The task is supervised multi-class classification. The model maps 28x28 grayscale tensors to a 10-dimensional probability simplex via softmax logits.</a:t>
            </a:r>
          </a:p>
          <a:p/>
          <a:p>
            <a:r>
              <a:t>4. LIKELY VIVA QUESTION:</a:t>
            </a:r>
          </a:p>
          <a:p>
            <a:r>
              <a:t>Q: Why use Macro F1-score alongside Accuracy when MNIST is nearly balanced?</a:t>
            </a:r>
          </a:p>
          <a:p/>
          <a:p>
            <a:r>
              <a:t>5. STRONG ANSWER:</a:t>
            </a:r>
          </a:p>
          <a:p>
            <a:r>
              <a:t>A: While MNIST has roughly 1,000 samples per class in the test set, slight support variations (e.g., 892 vs 1,135) can mask minority class degradation in global accuracy. Macro F1 assigns equal weight to every digit class, ensuring robust multi-class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the complete architectural flow from raw user stroke input to calibrated prediction, forensic telemetry, and explainability heatmaps.</a:t>
            </a:r>
          </a:p>
          <a:p/>
          <a:p>
            <a:r>
              <a:t>2. WHY IT MATTERS:</a:t>
            </a:r>
          </a:p>
          <a:p>
            <a:r>
              <a:t>Proves that all system components operate as a cohesive, coupled pipeline with zero architectural disconnects.</a:t>
            </a:r>
          </a:p>
          <a:p/>
          <a:p>
            <a:r>
              <a:t>3. TECHNICAL EXPLANATION:</a:t>
            </a:r>
          </a:p>
          <a:p>
            <a:r>
              <a:t>The architecture decouples UI rendering from backend inference via asynchronous FastAPI endpoints. The canonical preprocessor acts as the universal normalization contract.</a:t>
            </a:r>
          </a:p>
          <a:p/>
          <a:p>
            <a:r>
              <a:t>4. LIKELY VIVA QUESTION:</a:t>
            </a:r>
          </a:p>
          <a:p>
            <a:r>
              <a:t>Q: How does the system ensure zero skew between live web drawings and training images?</a:t>
            </a:r>
          </a:p>
          <a:p/>
          <a:p>
            <a:r>
              <a:t>5. STRONG ANSWER:</a:t>
            </a:r>
          </a:p>
          <a:p>
            <a:r>
              <a:t>A: By executing the exact same Python function canonical_preprocess_tensor() from src/preprocessing/canonical.py across both dataset loading and the live FastAPI web endpoint. The identical 7-stage sequence guarantees invariant representation parity.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Documents authentic CC BY-SA 3.0 license, NIST provenance, SHA-256 verification, and strict zero-leakage data hygiene protocols.</a:t>
            </a:r>
          </a:p>
          <a:p/>
          <a:p>
            <a:r>
              <a:t>2. WHY IT MATTERS:</a:t>
            </a:r>
          </a:p>
          <a:p>
            <a:r>
              <a:t>Refutes undocumented Kaggle datasets and guarantees that reported test numbers reflect genuine out-of-sample generalization.</a:t>
            </a:r>
          </a:p>
          <a:p/>
          <a:p>
            <a:r>
              <a:t>3. TECHNICAL EXPLANATION:</a:t>
            </a:r>
          </a:p>
          <a:p>
            <a:r>
              <a:t>MNIST is partitioned into 20k train, 3k val, 37k reserved, and 10k isolated test. Restricting training to 20k enables sub-minute CPU convergence for O(N^2) RBF SVMs without degrading accuracy (&gt;98.3% on CNN).</a:t>
            </a:r>
          </a:p>
          <a:p/>
          <a:p>
            <a:r>
              <a:t>4. LIKELY VIVA QUESTION:</a:t>
            </a:r>
          </a:p>
          <a:p>
            <a:r>
              <a:t>Q: How did you prove that there is zero data leakage between training and testing?</a:t>
            </a:r>
          </a:p>
          <a:p/>
          <a:p>
            <a:r>
              <a:t>5. STRONG ANSWER:</a:t>
            </a:r>
          </a:p>
          <a:p>
            <a:r>
              <a:t>A: Through automated hash-collision testing and regression assertions in tests/test_data.py that verify MD5 disjointness (0 collisions) and np.shares_memory=False between training, validation, and test arrays.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empirical EDA findings through executed visualizations: 10x10 sample diversity grid and per-class average digit representations.</a:t>
            </a:r>
          </a:p>
          <a:p/>
          <a:p>
            <a:r>
              <a:t>2. WHY IT MATTERS:</a:t>
            </a:r>
          </a:p>
          <a:p>
            <a:r>
              <a:t>Proves that data characteristics were empirically measured and understood prior to modeling rather than treated as an abstract black box.</a:t>
            </a:r>
          </a:p>
          <a:p/>
          <a:p>
            <a:r>
              <a:t>3. TECHNICAL EXPLANATION:</a:t>
            </a:r>
          </a:p>
          <a:p>
            <a:r>
              <a:t>Bimodal intensity distributions justify Otsu thresholding. Mean digit heatmaps demonstrate that the anatomical centers of mass are strictly aligned to the geometric center (13.5, 13.5).</a:t>
            </a:r>
          </a:p>
          <a:p/>
          <a:p>
            <a:r>
              <a:t>4. LIKELY VIVA QUESTION:</a:t>
            </a:r>
          </a:p>
          <a:p>
            <a:r>
              <a:t>Q: What do the average digit images tell us about class separability?</a:t>
            </a:r>
          </a:p>
          <a:p/>
          <a:p>
            <a:r>
              <a:t>5. STRONG ANSWER:</a:t>
            </a:r>
          </a:p>
          <a:p>
            <a:r>
              <a:t>A: Average digit images reveal class-specific stroke density regions. Digits like '0' and '1' possess highly distinct spatial density contours, whereas digits '4' and '9' exhibit overlapping stroke paths in their upper loops, explaining why they are more prone to subtle confusion.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Details the 7-stage canonical preprocessing pipeline and explains how center-of-mass moment centering solves translation skew.</a:t>
            </a:r>
          </a:p>
          <a:p/>
          <a:p>
            <a:r>
              <a:t>2. WHY IT MATTERS:</a:t>
            </a:r>
          </a:p>
          <a:p>
            <a:r>
              <a:t>Demonstrates the engineering rigor that guarantees 100% feature representation parity across offline datasets and live interactive web canvas drawings.</a:t>
            </a:r>
          </a:p>
          <a:p/>
          <a:p>
            <a:r>
              <a:t>3. TECHNICAL EXPLANATION:</a:t>
            </a:r>
          </a:p>
          <a:p>
            <a:r>
              <a:t>Raw input is thresholded with Otsu binarization, cropped, scaled to 20x20 maintaining aspect ratio, and translated so its center of mass coincides exactly with (13.5, 13.5).</a:t>
            </a:r>
          </a:p>
          <a:p/>
          <a:p>
            <a:r>
              <a:t>4. LIKELY VIVA QUESTION:</a:t>
            </a:r>
          </a:p>
          <a:p>
            <a:r>
              <a:t>Q: Why center the digit using Center-of-Mass rather than the center of the bounding box?</a:t>
            </a:r>
          </a:p>
          <a:p/>
          <a:p>
            <a:r>
              <a:t>5. STRONG ANSWER:</a:t>
            </a:r>
          </a:p>
          <a:p>
            <a:r>
              <a:t>A: Bounding box centers are vulnerable to asymmetric stroke flourishes or ascenders. The NIST preprocessing specification that produced MNIST used Center of Mass (first-order spatial moments), because the perceptual center of a handwritten glyph corresponds to its stroke mass.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Surveys foundational literature (LeCun, Cireșan, Guo, Selvaraju) and explains how DigitVision AI bridges the identified gaps.</a:t>
            </a:r>
          </a:p>
          <a:p/>
          <a:p>
            <a:r>
              <a:t>2. WHY IT MATTERS:</a:t>
            </a:r>
          </a:p>
          <a:p>
            <a:r>
              <a:t>Demonstrates strong academic grounding by situating the project in relation to published peer-reviewed research.</a:t>
            </a:r>
          </a:p>
          <a:p/>
          <a:p>
            <a:r>
              <a:t>3. TECHNICAL EXPLANATION:</a:t>
            </a:r>
          </a:p>
          <a:p>
            <a:r>
              <a:t>Existing literature either focuses purely on accuracy or studies calibration/XAI in isolation on large ImageNet models. DigitVision AI synthesizes these into a complete, interactive micro-project.</a:t>
            </a:r>
          </a:p>
          <a:p/>
          <a:p>
            <a:r>
              <a:t>4. LIKELY VIVA QUESTION:</a:t>
            </a:r>
          </a:p>
          <a:p>
            <a:r>
              <a:t>Q: What is the primary research gap your project addresses?</a:t>
            </a:r>
          </a:p>
          <a:p/>
          <a:p>
            <a:r>
              <a:t>5. STRONG ANSWER:</a:t>
            </a:r>
          </a:p>
          <a:p>
            <a:r>
              <a:t>A: Most handwritten digit recognition systems stop at raw categorical classification, leaving models susceptible to train-inference skew, overconfident mispredictions, and black-box opacity. DigitVision AI addresses this gap by coupling a canonical preprocessing invariant with post-hoc temperature calibration, Shannon entropy gating, and real-time Grad-CAM.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the theoretical diversity across all 7 evaluated machine learning paradigms from trivial baselines to modern deep networks.</a:t>
            </a:r>
          </a:p>
          <a:p/>
          <a:p>
            <a:r>
              <a:t>2. WHY IT MATTERS:</a:t>
            </a:r>
          </a:p>
          <a:p>
            <a:r>
              <a:t>Proves that deep learning was selected based on rigorous comparative empirical evidence rather than arbitrary assumption.</a:t>
            </a:r>
          </a:p>
          <a:p/>
          <a:p>
            <a:r>
              <a:t>3. TECHNICAL EXPLANATION:</a:t>
            </a:r>
          </a:p>
          <a:p>
            <a:r>
              <a:t>Comparing linear, tree ensemble, kernel, and convolutional networks exposes the exact performance gains provided by local receptive fields and weight sharing.</a:t>
            </a:r>
          </a:p>
          <a:p/>
          <a:p>
            <a:r>
              <a:t>4. LIKELY VIVA QUESTION:</a:t>
            </a:r>
          </a:p>
          <a:p>
            <a:r>
              <a:t>Q: Why evaluate a Dummy Baseline and Logistic Regression?</a:t>
            </a:r>
          </a:p>
          <a:p/>
          <a:p>
            <a:r>
              <a:t>5. STRONG ANSWER:</a:t>
            </a:r>
          </a:p>
          <a:p>
            <a:r>
              <a:t>A: The Dummy Baseline confirms that the problem is statistically non-trivial (11.35% chance vs 98.31%). Logistic Regression sets the empirical ceiling for linearly separable decision boundaries (91.49%), proving that non-linear spatial feature extraction is necessary to achieve high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Explains the dual-block DeepConvNet topology, parameter allocation, and the critical debugging resolution of the CPU BatchNorm divergence issue.</a:t>
            </a:r>
          </a:p>
          <a:p/>
          <a:p>
            <a:r>
              <a:t>2. WHY IT MATTERS:</a:t>
            </a:r>
          </a:p>
          <a:p>
            <a:r>
              <a:t>Demonstrates high-level debugging competence and explains the exact design choices that enabled 98.31% test accuracy.</a:t>
            </a:r>
          </a:p>
          <a:p/>
          <a:p>
            <a:r>
              <a:t>3. TECHNICAL EXPLANATION:</a:t>
            </a:r>
          </a:p>
          <a:p>
            <a:r>
              <a:t>Keras 3 on Windows CPU exhibited running variance divergence when BatchNorm was placed after ReLU. Substituting Spatial Dropout eliminated the divergence and provided regularized convergence.</a:t>
            </a:r>
          </a:p>
          <a:p/>
          <a:p>
            <a:r>
              <a:t>4. LIKELY VIVA QUESTION:</a:t>
            </a:r>
          </a:p>
          <a:p>
            <a:r>
              <a:t>Q: Why did you choose two stacked 3x3 convolutional layers instead of one 5x5 layer?</a:t>
            </a:r>
          </a:p>
          <a:p/>
          <a:p>
            <a:r>
              <a:t>5. STRONG ANSWER:</a:t>
            </a:r>
          </a:p>
          <a:p>
            <a:r>
              <a:t>A: Two consecutive 3x3 convolutions have the exact same effective receptive field (5x5) as a single 5x5 convolution, but require only 2*(3*3)=18 kernel weights instead of 25 (a 28% parameter reduction), while incorporating two non-linear ReLU activations instead of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Documents the exact training settings, Adam optimization hyperparameters, regularization parameters, and the Windows 11 execution environment.</a:t>
            </a:r>
          </a:p>
          <a:p/>
          <a:p>
            <a:r>
              <a:t>2. WHY IT MATTERS:</a:t>
            </a:r>
          </a:p>
          <a:p>
            <a:r>
              <a:t>Provides 100% transparency and guarantees that every training experiment is fully reproducible from code.</a:t>
            </a:r>
          </a:p>
          <a:p/>
          <a:p>
            <a:r>
              <a:t>3. TECHNICAL EXPLANATION:</a:t>
            </a:r>
          </a:p>
          <a:p>
            <a:r>
              <a:t>Adam adapts per-parameter learning rates based on running first and second gradient moments. A batch size of 256 offers an optimal trade-off between vectorization throughput and gradient variance.</a:t>
            </a:r>
          </a:p>
          <a:p/>
          <a:p>
            <a:r>
              <a:t>4. LIKELY VIVA QUESTION:</a:t>
            </a:r>
          </a:p>
          <a:p>
            <a:r>
              <a:t>Q: Why was Adam chosen over standard SGD with momentum?</a:t>
            </a:r>
          </a:p>
          <a:p/>
          <a:p>
            <a:r>
              <a:t>5. STRONG ANSWER:</a:t>
            </a:r>
          </a:p>
          <a:p>
            <a:r>
              <a:t>A: Adam combines the benefits of AdaGrad (handling sparse gradients) and RMSprop (handling non-stationary objectives) by maintaining exponentially decaying averages of past gradients and past squared gradients. This enabled rapid, stable convergence in just 4 epochs on CPU without manual learning-rate annealing.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Shows the executed training and validation loss and accuracy trajectories over 4 epochs.</a:t>
            </a:r>
          </a:p>
          <a:p/>
          <a:p>
            <a:r>
              <a:t>2. WHY IT MATTERS:</a:t>
            </a:r>
          </a:p>
          <a:p>
            <a:r>
              <a:t>Proves that the model converged smoothly without overfitting or divergence, achieving a healthy generalization gap.</a:t>
            </a:r>
          </a:p>
          <a:p/>
          <a:p>
            <a:r>
              <a:t>3. TECHNICAL EXPLANATION:</a:t>
            </a:r>
          </a:p>
          <a:p>
            <a:r>
              <a:t>Validation loss decreased monotonically to 0.0534, while validation accuracy reached 98.23%. Validation accuracy exceeding training accuracy is normal during training with Dropout.</a:t>
            </a:r>
          </a:p>
          <a:p/>
          <a:p>
            <a:r>
              <a:t>4. LIKELY VIVA QUESTION:</a:t>
            </a:r>
          </a:p>
          <a:p>
            <a:r>
              <a:t>Q: Why is validation accuracy higher than training accuracy during training?</a:t>
            </a:r>
          </a:p>
          <a:p/>
          <a:p>
            <a:r>
              <a:t>5. STRONG ANSWER:</a:t>
            </a:r>
          </a:p>
          <a:p>
            <a:r>
              <a:t>A: Because Dropout (0.25 in conv layers, 0.40 in dense) is active during training, intentionally penalizing network capacity. During validation evaluation, Dropout is disabled, allowing the full ensemble of weights to participate in inference, yielding a higher accuracy.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the final empirical benchmark table comparing all 7 models across accuracy, macro F1, training time, and latency.</a:t>
            </a:r>
          </a:p>
          <a:p/>
          <a:p>
            <a:r>
              <a:t>2. WHY IT MATTERS:</a:t>
            </a:r>
          </a:p>
          <a:p>
            <a:r>
              <a:t>Provides undeniable quantitative evidence justifying why the DeepConvNet was chosen as the production model.</a:t>
            </a:r>
          </a:p>
          <a:p/>
          <a:p>
            <a:r>
              <a:t>3. TECHNICAL EXPLANATION:</a:t>
            </a:r>
          </a:p>
          <a:p>
            <a:r>
              <a:t>All models were tested on the exact same 10,000 isolated test images with zero data leakage. Random Forest had high latency (102ms), SVM reached 96.11%, but DeepConvNet won decisively at 98.31%.</a:t>
            </a:r>
          </a:p>
          <a:p/>
          <a:p>
            <a:r>
              <a:t>4. LIKELY VIVA QUESTION:</a:t>
            </a:r>
          </a:p>
          <a:p>
            <a:r>
              <a:t>Q: Why did Random Forest have a slower inference latency (102 ms) than the Deep ConvNet (9.14 ms)?</a:t>
            </a:r>
          </a:p>
          <a:p/>
          <a:p>
            <a:r>
              <a:t>5. STRONG ANSWER:</a:t>
            </a:r>
          </a:p>
          <a:p>
            <a:r>
              <a:t>A: Random Forest evaluates 60 independent, deep decision trees sequentially in Python across 784 dimensions, traversing numerous conditional branch statements per sample. The ConvNet, in contrast, executes SIMD vectorized tensor operations, achieving much higher inference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Analyzes the 10x10 confusion matrix, multi-class ROC curves, and Precision-Recall characteristics of the DeepConvNet.</a:t>
            </a:r>
          </a:p>
          <a:p/>
          <a:p>
            <a:r>
              <a:t>2. WHY IT MATTERS:</a:t>
            </a:r>
          </a:p>
          <a:p>
            <a:r>
              <a:t>Reveals the exact failure modes and class-specific discrimination boundaries rather than merely quoting aggregate accuracy.</a:t>
            </a:r>
          </a:p>
          <a:p/>
          <a:p>
            <a:r>
              <a:t>3. TECHNICAL EXPLANATION:</a:t>
            </a:r>
          </a:p>
          <a:p>
            <a:r>
              <a:t>Errors are concentrated in anatomically similar pairs such as (4, 9) and (3, 5). ROC-AUC &gt; 0.999 demonstrates outstanding ranking separation between true and false classes.</a:t>
            </a:r>
          </a:p>
          <a:p/>
          <a:p>
            <a:r>
              <a:t>4. LIKELY VIVA QUESTION:</a:t>
            </a:r>
          </a:p>
          <a:p>
            <a:r>
              <a:t>Q: Why are digits 4 and 9 the most commonly confused pair?</a:t>
            </a:r>
          </a:p>
          <a:p/>
          <a:p>
            <a:r>
              <a:t>5. STRONG ANSWER:</a:t>
            </a:r>
          </a:p>
          <a:p>
            <a:r>
              <a:t>A: Digits 4 and 9 share structural topological features: a long vertical right stem, a horizontal midline juncture, and an upper enclosed or semi-enclosed loop. When a human writer fails to close the loop of a 9 or draws a closed-top 4, spatial activations overlap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Explains post-hoc temperature scaling, Expected Calibration Error (ECE), and Shannon entropy confidence diagnostics.</a:t>
            </a:r>
          </a:p>
          <a:p/>
          <a:p>
            <a:r>
              <a:t>2. WHY IT MATTERS:</a:t>
            </a:r>
          </a:p>
          <a:p>
            <a:r>
              <a:t>Proves that DigitVision AI avoids overconfident hallucinations and knows when to reject uncertain predictions.</a:t>
            </a:r>
          </a:p>
          <a:p/>
          <a:p>
            <a:r>
              <a:t>3. TECHNICAL EXPLANATION:</a:t>
            </a:r>
          </a:p>
          <a:p>
            <a:r>
              <a:t>Temperature scaling softens or sharpens the softmax distribution without altering the argmax prediction order. Shannon entropy measures distribution dispersion to detect out-of-distribution inputs.</a:t>
            </a:r>
          </a:p>
          <a:p/>
          <a:p>
            <a:r>
              <a:t>4. LIKELY VIVA QUESTION:</a:t>
            </a:r>
          </a:p>
          <a:p>
            <a:r>
              <a:t>Q: Does temperature scaling change the model's accuracy?</a:t>
            </a:r>
          </a:p>
          <a:p/>
          <a:p>
            <a:r>
              <a:t>5. STRONG ANSWER:</a:t>
            </a:r>
          </a:p>
          <a:p>
            <a:r>
              <a:t>A: No. Temperature scaling is a strictly monotonic transformation of the logits: dividing by T &gt; 0 preserves the rank ordering of all class scores. Therefore, accuracy remains identical while the output probabilities become well-calibrated.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Presents visual attribution via Grad-CAM and details physical stroke forensics computed during inference.</a:t>
            </a:r>
          </a:p>
          <a:p/>
          <a:p>
            <a:r>
              <a:t>2. WHY IT MATTERS:</a:t>
            </a:r>
          </a:p>
          <a:p>
            <a:r>
              <a:t>Transforms the model from an opaque black box into an auditable intelligence system that provides visual evidence for every decision.</a:t>
            </a:r>
          </a:p>
          <a:p/>
          <a:p>
            <a:r>
              <a:t>3. TECHNICAL EXPLANATION:</a:t>
            </a:r>
          </a:p>
          <a:p>
            <a:r>
              <a:t>Grad-CAM computes the gradient of the predicted class score with respect to feature maps in 'conv_cam', creating a coarse localization map highlighting discriminative regions.</a:t>
            </a:r>
          </a:p>
          <a:p/>
          <a:p>
            <a:r>
              <a:t>4. LIKELY VIVA QUESTION:</a:t>
            </a:r>
          </a:p>
          <a:p>
            <a:r>
              <a:t>Q: Why is the ReLU activation applied at the end of Grad-CAM?</a:t>
            </a:r>
          </a:p>
          <a:p/>
          <a:p>
            <a:r>
              <a:t>5. STRONG ANSWER:</a:t>
            </a:r>
          </a:p>
          <a:p>
            <a:r>
              <a:t>A: ReLU is applied because we are only interested in features that have a positive influence on the target class score. Features with negative gradients indicate evidence for competing classes, so suppressing them yields clean, focused visual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Demonstrates the live ML Mission Control web application deployed on FastAPI at 127.0.0.1:8000, presenting the complete end-to-end user inference and explainability workflow.</a:t>
            </a:r>
          </a:p>
          <a:p/>
          <a:p>
            <a:r>
              <a:t>2. WHY IT MATTERS:</a:t>
            </a:r>
          </a:p>
          <a:p>
            <a:r>
              <a:t>Bridges the gap between an offline trained model and a production-grade intelligence platform that provides real-time calibrated predictions with full visual explainability.</a:t>
            </a:r>
          </a:p>
          <a:p/>
          <a:p>
            <a:r>
              <a:t>3. TECHNICAL EXPLANATION:</a:t>
            </a:r>
          </a:p>
          <a:p>
            <a:r>
              <a:t>FastAPI processes asynchronous JSON POST requests containing canvas image payloads. The backend executes canonical Otsu/moment centering, runs DeepConvNet inference with temperature scaling (T = 0.9170), calculates Shannon entropy, generates Grad-CAM overlays, and returns comprehensive telemetry in 9.14 ms.</a:t>
            </a:r>
          </a:p>
          <a:p/>
          <a:p>
            <a:r>
              <a:t>4. LIKELY VIVA QUESTION:</a:t>
            </a:r>
          </a:p>
          <a:p>
            <a:r>
              <a:t>Q: What happens when a user draws an unrecognizable scribble or non-digit symbol on the canvas?</a:t>
            </a:r>
          </a:p>
          <a:p/>
          <a:p>
            <a:r>
              <a:t>5. STRONG ANSWER:</a:t>
            </a:r>
          </a:p>
          <a:p>
            <a:r>
              <a:t>A: Rather than outputting an overconfident false classification, the system's confidence intelligence triggers: Shannon entropy exceeds the 1.2 nats threshold and the decision margin drops below 0.20, causing the Mission Control HUD to flag the prediction as 'Ambiguous / OOD Input' and reject automated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Summarizes the successful achievement of all 7 pre-defined objectives, candidly outlines architectural limitations, and charts the future research roadmap.</a:t>
            </a:r>
          </a:p>
          <a:p/>
          <a:p>
            <a:r>
              <a:t>2. WHY IT MATTERS:</a:t>
            </a:r>
          </a:p>
          <a:p>
            <a:r>
              <a:t>Concludes the defense with intellectual honesty and scientific rigor, proving that the project was executed thoroughly and thoughtfully.</a:t>
            </a:r>
          </a:p>
          <a:p/>
          <a:p>
            <a:r>
              <a:t>3. TECHNICAL EXPLANATION:</a:t>
            </a:r>
          </a:p>
          <a:p>
            <a:r>
              <a:t>All 7 objectives defined in Chapter 1 were achieved. Future extensions include WebAssembly client-side execution, EMNIST alphanumeric scaling, and Monte Carlo dropout.</a:t>
            </a:r>
          </a:p>
          <a:p/>
          <a:p>
            <a:r>
              <a:t>4. LIKELY VIVA QUESTION:</a:t>
            </a:r>
          </a:p>
          <a:p>
            <a:r>
              <a:t>Q: If you had two more months to extend this project, what would be your top priority?</a:t>
            </a:r>
          </a:p>
          <a:p/>
          <a:p>
            <a:r>
              <a:t>5. STRONG ANSWER:</a:t>
            </a:r>
          </a:p>
          <a:p>
            <a:r>
              <a:t>A: My top priority would be deploying the model to on-device WebAssembly via ONNX Runtime to eliminate server latency, followed by implementing Monte Carlo Dropout to explicitly disentangle data noise (aleatoric uncertainty) from model parameter ignorance (epistemic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Explicit audit of DigitVision AI codebase and experiments against official Machine Learning Lab Course Outcomes (CO1–CO6).</a:t>
            </a:r>
          </a:p>
          <a:p/>
          <a:p>
            <a:r>
              <a:t>2. WHY IT MATTERS:</a:t>
            </a:r>
          </a:p>
          <a:p>
            <a:r>
              <a:t>Grounds the micro-project strictly in the academic curriculum requirements and proves genuine empirical completion without fabrication.</a:t>
            </a:r>
          </a:p>
          <a:p/>
          <a:p>
            <a:r>
              <a:t>3. TECHNICAL EXPLANATION:</a:t>
            </a:r>
          </a:p>
          <a:p>
            <a:r>
              <a:t>CO1 and CO2 are grounded in statistical tensors and visual EDA; CO3 implements classical baselines; CO4 achieves temperature calibration (ECE 0.0031); CO5 executes K-Means clustering on 10,000 samples (58.87% purity); CO6 delivers the 7-model comparative capstone.</a:t>
            </a:r>
          </a:p>
          <a:p/>
          <a:p>
            <a:r>
              <a:t>4. LIKELY VIVA QUESTION:</a:t>
            </a:r>
          </a:p>
          <a:p>
            <a:r>
              <a:t>Q: Why is CO3 marked as substantially demonstrated rather than 100% complete across all textbook algorithms?</a:t>
            </a:r>
          </a:p>
          <a:p/>
          <a:p>
            <a:r>
              <a:t>5. STRONG ANSWER:</a:t>
            </a:r>
          </a:p>
          <a:p>
            <a:r>
              <a:t>A: We uphold academic rigor: Linear regression is inappropriate for a discrete 10-class problem, and KNN violates our &lt;10 ms latency requirement. We implemented Logistic Regression and Random Forest to establish rigorous baselines without fabricating unsuited models.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WHAT THE SLIDE COMMUNICATES:</a:t>
            </a:r>
          </a:p>
          <a:p>
            <a:r>
              <a:t>Forensic NBA Tier-I CO-PO and PSO mapping matrix with average correlation scores and empirical justifications.</a:t>
            </a:r>
          </a:p>
          <a:p/>
          <a:p>
            <a:r>
              <a:t>2. WHY IT MATTERS:</a:t>
            </a:r>
          </a:p>
          <a:p>
            <a:r>
              <a:t>Meets Washington Accord and NBA outcome-based education standards, demonstrating how each engineering graduate attribute was cultivated.</a:t>
            </a:r>
          </a:p>
          <a:p/>
          <a:p>
            <a:r>
              <a:t>3. TECHNICAL EXPLANATION:</a:t>
            </a:r>
          </a:p>
          <a:p>
            <a:r>
              <a:t>Correlation values (3=High, 2=Moderate, 1=Low, —=None) are assigned strictly when supported by code, tests, or documentation. Zero correlation is preserved where evidence does not exist.</a:t>
            </a:r>
          </a:p>
          <a:p/>
          <a:p>
            <a:r>
              <a:t>4. LIKELY VIVA QUESTION:</a:t>
            </a:r>
          </a:p>
          <a:p>
            <a:r>
              <a:t>Q: Why is PO7 (Ethics) mapped with moderate correlation (2) rather than a default 3?</a:t>
            </a:r>
          </a:p>
          <a:p/>
          <a:p>
            <a:r>
              <a:t>5. STRONG ANSWER:</a:t>
            </a:r>
          </a:p>
          <a:p>
            <a:r>
              <a:t>A: We assigned a level 2 to reflect real, concrete ethical actions—specifically visual transparency via Grad-CAM and temperature calibration to prevent overconfident erroneous automation in high-stakes settings like banking—without exaggerating theoretical policy discussions.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914400" y="1645920"/>
            <a:ext cx="10332720" cy="3200400"/>
          </a:xfrm>
          <a:prstGeom prst="rect">
            <a:avLst/>
          </a:prstGeom>
          <a:noFill/>
        </p:spPr>
        <p:txBody>
          <a:bodyPr wrap="square">
            <a:spAutoFit/>
          </a:bodyPr>
          <a:lstStyle/>
          <a:p>
            <a:pPr>
              <a:defRPr sz="1100" b="1">
                <a:solidFill>
                  <a:srgbClr val="1DB954"/>
                </a:solidFill>
                <a:latin typeface="Consolas"/>
              </a:defRPr>
            </a:pPr>
            <a:r>
              <a:t>DEPARTMENT OF COMPUTER SCIENCE &amp; ENGINEERING (AI &amp; ML) — B.TECH MICRO PROJECT DEFENSE</a:t>
            </a:r>
          </a:p>
          <a:p>
            <a:pPr>
              <a:defRPr sz="4600" b="1">
                <a:solidFill>
                  <a:srgbClr val="FFFFFF"/>
                </a:solidFill>
                <a:latin typeface="Segoe UI"/>
              </a:defRPr>
            </a:pPr>
            <a:r>
              <a:t>DIGITVISION AI</a:t>
            </a:r>
          </a:p>
          <a:p>
            <a:pPr>
              <a:defRPr sz="1800">
                <a:solidFill>
                  <a:srgbClr val="A1A1AA"/>
                </a:solidFill>
                <a:latin typeface="Segoe UI"/>
              </a:defRPr>
            </a:pPr>
            <a:r>
              <a:t>Explainable, Confidence-Aware Handwritten Digit Intelligence Platform</a:t>
            </a:r>
          </a:p>
          <a:p>
            <a:br/>
            <a:pPr>
              <a:defRPr sz="1100">
                <a:solidFill>
                  <a:srgbClr val="737373"/>
                </a:solidFill>
                <a:latin typeface="Consolas"/>
              </a:defRPr>
            </a:pPr>
            <a:r>
              <a:t>Dual-Block DeepConvNet (98.31% Test Acc) | Temperature Scaled (ECE Minimal) | Grad-CAM Grounded | Deep Obsidian HUD</a:t>
            </a:r>
          </a:p>
        </p:txBody>
      </p:sp>
      <p:sp>
        <p:nvSpPr>
          <p:cNvPr id="3" name="Rectangle 2"/>
          <p:cNvSpPr/>
          <p:nvPr/>
        </p:nvSpPr>
        <p:spPr>
          <a:xfrm>
            <a:off x="914400" y="5029200"/>
            <a:ext cx="10332720" cy="10972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5166360"/>
            <a:ext cx="9966960" cy="822960"/>
          </a:xfrm>
          <a:prstGeom prst="rect">
            <a:avLst/>
          </a:prstGeom>
          <a:noFill/>
        </p:spPr>
        <p:txBody>
          <a:bodyPr wrap="square">
            <a:spAutoFit/>
          </a:bodyPr>
          <a:lstStyle/>
          <a:p>
            <a:pPr>
              <a:defRPr sz="1000" b="1">
                <a:solidFill>
                  <a:srgbClr val="1DB954"/>
                </a:solidFill>
                <a:latin typeface="Consolas"/>
              </a:defRPr>
            </a:pPr>
            <a:r>
              <a:t>STUDENT TEAM: 24VE1A6695 (M TEJAS YADAV), 24VE1A6692 (K Charan Teja), 24VE1A66C8 (Y Akshay Raj)  •  SREYAS INSTITUTE OF ENGINEERING &amp; TECHNOLOGY</a:t>
            </a:r>
          </a:p>
          <a:p>
            <a:pPr>
              <a:defRPr sz="900">
                <a:solidFill>
                  <a:srgbClr val="A1A1AA"/>
                </a:solidFill>
                <a:latin typeface="Consolas"/>
              </a:defRPr>
            </a:pPr>
            <a:r>
              <a:t>Academic Regulation: R22 | Academic Year: 2025-2026 | Course: Machine Learning (CS602PC) | zero-fabrication 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02. PROBLEM STATEMENT</a:t>
            </a:r>
          </a:p>
          <a:p>
            <a:pPr>
              <a:defRPr sz="1800" b="1">
                <a:solidFill>
                  <a:srgbClr val="FFFFFF"/>
                </a:solidFill>
                <a:latin typeface="Segoe UI"/>
              </a:defRPr>
            </a:pPr>
            <a:r>
              <a:t>CRITICAL FAILURE MODES IN HANDWRITTEN VISION SYSTEMS</a:t>
            </a:r>
          </a:p>
        </p:txBody>
      </p:sp>
      <p:sp>
        <p:nvSpPr>
          <p:cNvPr id="3" name="Rectangle 2"/>
          <p:cNvSpPr/>
          <p:nvPr/>
        </p:nvSpPr>
        <p:spPr>
          <a:xfrm>
            <a:off x="73152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1. TRAIN-INFERENCE SKEW</a:t>
            </a:r>
          </a:p>
        </p:txBody>
      </p:sp>
      <p:sp>
        <p:nvSpPr>
          <p:cNvPr id="5" name="TextBox 4"/>
          <p:cNvSpPr txBox="1"/>
          <p:nvPr/>
        </p:nvSpPr>
        <p:spPr>
          <a:xfrm>
            <a:off x="914400" y="1920240"/>
            <a:ext cx="2926080" cy="4023360"/>
          </a:xfrm>
          <a:prstGeom prst="rect">
            <a:avLst/>
          </a:prstGeom>
          <a:noFill/>
        </p:spPr>
        <p:txBody>
          <a:bodyPr wrap="square">
            <a:spAutoFit/>
          </a:bodyPr>
          <a:lstStyle/>
          <a:p>
            <a:pPr>
              <a:defRPr sz="1100">
                <a:solidFill>
                  <a:srgbClr val="A1A1AA"/>
                </a:solidFill>
                <a:latin typeface="Segoe UI"/>
              </a:defRPr>
            </a:pPr>
            <a:r>
              <a:t>•  Native MNIST tensors are pre-centered by center-of-mass into a 20x20 box.</a:t>
            </a:r>
          </a:p>
          <a:p/>
          <a:p>
            <a:pPr>
              <a:defRPr sz="1100">
                <a:solidFill>
                  <a:srgbClr val="A1A1AA"/>
                </a:solidFill>
                <a:latin typeface="Segoe UI"/>
              </a:defRPr>
            </a:pPr>
            <a:r>
              <a:t>•  Raw browser canvas drawings have arbitrary thickness, offset centroids, and inverted colors.</a:t>
            </a:r>
          </a:p>
          <a:p/>
          <a:p>
            <a:pPr>
              <a:defRPr sz="1100">
                <a:solidFill>
                  <a:srgbClr val="A1A1AA"/>
                </a:solidFill>
                <a:latin typeface="Segoe UI"/>
              </a:defRPr>
            </a:pPr>
            <a:r>
              <a:t>•  Without a canonical preprocessing invariant, spatial activations miss convolutional receptive fields.</a:t>
            </a:r>
          </a:p>
        </p:txBody>
      </p:sp>
      <p:sp>
        <p:nvSpPr>
          <p:cNvPr id="6" name="Rectangle 5"/>
          <p:cNvSpPr/>
          <p:nvPr/>
        </p:nvSpPr>
        <p:spPr>
          <a:xfrm>
            <a:off x="434340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2. OVERCONFIDENT BLACK-BOX SOFTMAX</a:t>
            </a:r>
          </a:p>
        </p:txBody>
      </p:sp>
      <p:sp>
        <p:nvSpPr>
          <p:cNvPr id="8" name="TextBox 7"/>
          <p:cNvSpPr txBox="1"/>
          <p:nvPr/>
        </p:nvSpPr>
        <p:spPr>
          <a:xfrm>
            <a:off x="4526280" y="1920240"/>
            <a:ext cx="2926080" cy="4023360"/>
          </a:xfrm>
          <a:prstGeom prst="rect">
            <a:avLst/>
          </a:prstGeom>
          <a:noFill/>
        </p:spPr>
        <p:txBody>
          <a:bodyPr wrap="square">
            <a:spAutoFit/>
          </a:bodyPr>
          <a:lstStyle/>
          <a:p>
            <a:pPr>
              <a:defRPr sz="1100">
                <a:solidFill>
                  <a:srgbClr val="A1A1AA"/>
                </a:solidFill>
                <a:latin typeface="Segoe UI"/>
              </a:defRPr>
            </a:pPr>
            <a:r>
              <a:t>•  Standard Softmax outputs exponentiate uncalibrated logits into deceptive pseudo-probabilities.</a:t>
            </a:r>
          </a:p>
          <a:p/>
          <a:p>
            <a:pPr>
              <a:defRPr sz="1100">
                <a:solidFill>
                  <a:srgbClr val="A1A1AA"/>
                </a:solidFill>
                <a:latin typeface="Segoe UI"/>
              </a:defRPr>
            </a:pPr>
            <a:r>
              <a:t>•  Models routinely emit &gt;98% confidence on out-of-distribution noise or invalid scribbles.</a:t>
            </a:r>
          </a:p>
          <a:p/>
          <a:p>
            <a:pPr>
              <a:defRPr sz="1100">
                <a:solidFill>
                  <a:srgbClr val="A1A1AA"/>
                </a:solidFill>
                <a:latin typeface="Segoe UI"/>
              </a:defRPr>
            </a:pPr>
            <a:r>
              <a:t>•  Lack of calibration metrics (ECE) and Shannon entropy makes automated workflow delegation hazardous.</a:t>
            </a:r>
          </a:p>
        </p:txBody>
      </p:sp>
      <p:sp>
        <p:nvSpPr>
          <p:cNvPr id="9" name="Rectangle 8"/>
          <p:cNvSpPr/>
          <p:nvPr/>
        </p:nvSpPr>
        <p:spPr>
          <a:xfrm>
            <a:off x="795528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3. OPAQUE LATENT DECISIONS</a:t>
            </a:r>
          </a:p>
        </p:txBody>
      </p:sp>
      <p:sp>
        <p:nvSpPr>
          <p:cNvPr id="11" name="TextBox 10"/>
          <p:cNvSpPr txBox="1"/>
          <p:nvPr/>
        </p:nvSpPr>
        <p:spPr>
          <a:xfrm>
            <a:off x="8138160" y="1920240"/>
            <a:ext cx="2926080" cy="4023360"/>
          </a:xfrm>
          <a:prstGeom prst="rect">
            <a:avLst/>
          </a:prstGeom>
          <a:noFill/>
        </p:spPr>
        <p:txBody>
          <a:bodyPr wrap="square">
            <a:spAutoFit/>
          </a:bodyPr>
          <a:lstStyle/>
          <a:p>
            <a:pPr>
              <a:defRPr sz="1100">
                <a:solidFill>
                  <a:srgbClr val="A1A1AA"/>
                </a:solidFill>
                <a:latin typeface="Segoe UI"/>
              </a:defRPr>
            </a:pPr>
            <a:r>
              <a:t>•  Users and auditors receive discrete categorical integer outputs without spatial attribution.</a:t>
            </a:r>
          </a:p>
          <a:p/>
          <a:p>
            <a:pPr>
              <a:defRPr sz="1100">
                <a:solidFill>
                  <a:srgbClr val="A1A1AA"/>
                </a:solidFill>
                <a:latin typeface="Segoe UI"/>
              </a:defRPr>
            </a:pPr>
            <a:r>
              <a:t>•  Impossible to verify if the classifier attended to genuine digit anatomy or background artifacts.</a:t>
            </a:r>
          </a:p>
          <a:p/>
          <a:p>
            <a:pPr>
              <a:defRPr sz="1100">
                <a:solidFill>
                  <a:srgbClr val="A1A1AA"/>
                </a:solidFill>
                <a:latin typeface="Segoe UI"/>
              </a:defRPr>
            </a:pPr>
            <a:r>
              <a:t>•  Modern deployment standards mandate Explainable AI (XAI) transparently mapped in real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03. MOTIVATION</a:t>
            </a:r>
          </a:p>
          <a:p>
            <a:pPr>
              <a:defRPr sz="1800" b="1">
                <a:solidFill>
                  <a:srgbClr val="FFFFFF"/>
                </a:solidFill>
                <a:latin typeface="Segoe UI"/>
              </a:defRPr>
            </a:pPr>
            <a:r>
              <a:t>WHY HANDWRITTEN DIGIT INTELLIGENCE REQUIRES CALIBRATED FORENSICS</a:t>
            </a:r>
          </a:p>
        </p:txBody>
      </p:sp>
      <p:sp>
        <p:nvSpPr>
          <p:cNvPr id="3" name="Rectangle 2"/>
          <p:cNvSpPr/>
          <p:nvPr/>
        </p:nvSpPr>
        <p:spPr>
          <a:xfrm>
            <a:off x="731520" y="1371600"/>
            <a:ext cx="10698480" cy="10515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10332719" cy="320040"/>
          </a:xfrm>
          <a:prstGeom prst="rect">
            <a:avLst/>
          </a:prstGeom>
          <a:noFill/>
        </p:spPr>
        <p:txBody>
          <a:bodyPr wrap="square" lIns="0" tIns="0" rIns="0" bIns="0">
            <a:spAutoFit/>
          </a:bodyPr>
          <a:lstStyle/>
          <a:p>
            <a:pPr>
              <a:defRPr sz="1000" b="1">
                <a:solidFill>
                  <a:srgbClr val="A1A1AA"/>
                </a:solidFill>
                <a:latin typeface="Consolas"/>
              </a:defRPr>
            </a:pPr>
            <a:r>
              <a:t>HIGH-STAKES DOCUMENT TRANSCRIPTION</a:t>
            </a:r>
          </a:p>
        </p:txBody>
      </p:sp>
      <p:sp>
        <p:nvSpPr>
          <p:cNvPr id="5" name="TextBox 4"/>
          <p:cNvSpPr txBox="1"/>
          <p:nvPr/>
        </p:nvSpPr>
        <p:spPr>
          <a:xfrm>
            <a:off x="914400" y="1783080"/>
            <a:ext cx="10332720" cy="548640"/>
          </a:xfrm>
          <a:prstGeom prst="rect">
            <a:avLst/>
          </a:prstGeom>
          <a:noFill/>
        </p:spPr>
        <p:txBody>
          <a:bodyPr wrap="square">
            <a:spAutoFit/>
          </a:bodyPr>
          <a:lstStyle/>
          <a:p>
            <a:pPr>
              <a:defRPr sz="1100">
                <a:solidFill>
                  <a:srgbClr val="A1A1AA"/>
                </a:solidFill>
                <a:latin typeface="Segoe UI"/>
              </a:defRPr>
            </a:pPr>
            <a:r>
              <a:t>In financial checks, tax forms, postal sorting, and academic grading, an undetected misclassification has serious legal and economic consequences. The system must possess the epistemic humility to reject ambiguous inputs rather than guessing blindly.</a:t>
            </a:r>
          </a:p>
        </p:txBody>
      </p:sp>
      <p:sp>
        <p:nvSpPr>
          <p:cNvPr id="6" name="Rectangle 5"/>
          <p:cNvSpPr/>
          <p:nvPr/>
        </p:nvSpPr>
        <p:spPr>
          <a:xfrm>
            <a:off x="731520" y="2587752"/>
            <a:ext cx="10698480" cy="10515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24912"/>
            <a:ext cx="10332719" cy="320040"/>
          </a:xfrm>
          <a:prstGeom prst="rect">
            <a:avLst/>
          </a:prstGeom>
          <a:noFill/>
        </p:spPr>
        <p:txBody>
          <a:bodyPr wrap="square" lIns="0" tIns="0" rIns="0" bIns="0">
            <a:spAutoFit/>
          </a:bodyPr>
          <a:lstStyle/>
          <a:p>
            <a:pPr>
              <a:defRPr sz="1000" b="1">
                <a:solidFill>
                  <a:srgbClr val="A1A1AA"/>
                </a:solidFill>
                <a:latin typeface="Consolas"/>
              </a:defRPr>
            </a:pPr>
            <a:r>
              <a:t>PROBABILISTIC TRUST &amp; SAFE DELEGATION</a:t>
            </a:r>
          </a:p>
        </p:txBody>
      </p:sp>
      <p:sp>
        <p:nvSpPr>
          <p:cNvPr id="8" name="TextBox 7"/>
          <p:cNvSpPr txBox="1"/>
          <p:nvPr/>
        </p:nvSpPr>
        <p:spPr>
          <a:xfrm>
            <a:off x="914400" y="2999232"/>
            <a:ext cx="10332720" cy="548640"/>
          </a:xfrm>
          <a:prstGeom prst="rect">
            <a:avLst/>
          </a:prstGeom>
          <a:noFill/>
        </p:spPr>
        <p:txBody>
          <a:bodyPr wrap="square">
            <a:spAutoFit/>
          </a:bodyPr>
          <a:lstStyle/>
          <a:p>
            <a:pPr>
              <a:defRPr sz="1100">
                <a:solidFill>
                  <a:srgbClr val="A1A1AA"/>
                </a:solidFill>
                <a:latin typeface="Segoe UI"/>
              </a:defRPr>
            </a:pPr>
            <a:r>
              <a:t>Modern autonomous workflows require reliable confidence scores that match empirical accuracy. Post-hoc calibration ensures that when a model outputs 80% confidence, the prediction is correct approximately 80% of the time.</a:t>
            </a:r>
          </a:p>
        </p:txBody>
      </p:sp>
      <p:sp>
        <p:nvSpPr>
          <p:cNvPr id="9" name="Rectangle 8"/>
          <p:cNvSpPr/>
          <p:nvPr/>
        </p:nvSpPr>
        <p:spPr>
          <a:xfrm>
            <a:off x="731520" y="3803904"/>
            <a:ext cx="10698480" cy="10515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41064"/>
            <a:ext cx="10332719" cy="320040"/>
          </a:xfrm>
          <a:prstGeom prst="rect">
            <a:avLst/>
          </a:prstGeom>
          <a:noFill/>
        </p:spPr>
        <p:txBody>
          <a:bodyPr wrap="square" lIns="0" tIns="0" rIns="0" bIns="0">
            <a:spAutoFit/>
          </a:bodyPr>
          <a:lstStyle/>
          <a:p>
            <a:pPr>
              <a:defRPr sz="1000" b="1">
                <a:solidFill>
                  <a:srgbClr val="A1A1AA"/>
                </a:solidFill>
                <a:latin typeface="Consolas"/>
              </a:defRPr>
            </a:pPr>
            <a:r>
              <a:t>VISUAL AUDITABILITY &amp; EXPLAINABILITY</a:t>
            </a:r>
          </a:p>
        </p:txBody>
      </p:sp>
      <p:sp>
        <p:nvSpPr>
          <p:cNvPr id="11" name="TextBox 10"/>
          <p:cNvSpPr txBox="1"/>
          <p:nvPr/>
        </p:nvSpPr>
        <p:spPr>
          <a:xfrm>
            <a:off x="914400" y="4215384"/>
            <a:ext cx="10332720" cy="548640"/>
          </a:xfrm>
          <a:prstGeom prst="rect">
            <a:avLst/>
          </a:prstGeom>
          <a:noFill/>
        </p:spPr>
        <p:txBody>
          <a:bodyPr wrap="square">
            <a:spAutoFit/>
          </a:bodyPr>
          <a:lstStyle/>
          <a:p>
            <a:pPr>
              <a:defRPr sz="1100">
                <a:solidFill>
                  <a:srgbClr val="A1A1AA"/>
                </a:solidFill>
                <a:latin typeface="Segoe UI"/>
              </a:defRPr>
            </a:pPr>
            <a:r>
              <a:t>Regulatory compliance (e.g., EU AI Act, Responsible AI standards) demands inspectable decision rationales. Visual saliency heatmaps verify that classification is driven by structural strokes rather than high-frequency noise.</a:t>
            </a:r>
          </a:p>
        </p:txBody>
      </p:sp>
      <p:sp>
        <p:nvSpPr>
          <p:cNvPr id="12" name="Rectangle 11"/>
          <p:cNvSpPr/>
          <p:nvPr/>
        </p:nvSpPr>
        <p:spPr>
          <a:xfrm>
            <a:off x="731520" y="5020055"/>
            <a:ext cx="10698480" cy="10515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57216"/>
            <a:ext cx="10332719" cy="320040"/>
          </a:xfrm>
          <a:prstGeom prst="rect">
            <a:avLst/>
          </a:prstGeom>
          <a:noFill/>
        </p:spPr>
        <p:txBody>
          <a:bodyPr wrap="square" lIns="0" tIns="0" rIns="0" bIns="0">
            <a:spAutoFit/>
          </a:bodyPr>
          <a:lstStyle/>
          <a:p>
            <a:pPr>
              <a:defRPr sz="1000" b="1">
                <a:solidFill>
                  <a:srgbClr val="A1A1AA"/>
                </a:solidFill>
                <a:latin typeface="Consolas"/>
              </a:defRPr>
            </a:pPr>
            <a:r>
              <a:t>EDUCATIONAL RESEARCH GROUNDING</a:t>
            </a:r>
          </a:p>
        </p:txBody>
      </p:sp>
      <p:sp>
        <p:nvSpPr>
          <p:cNvPr id="14" name="TextBox 13"/>
          <p:cNvSpPr txBox="1"/>
          <p:nvPr/>
        </p:nvSpPr>
        <p:spPr>
          <a:xfrm>
            <a:off x="914400" y="5431536"/>
            <a:ext cx="10332720" cy="548640"/>
          </a:xfrm>
          <a:prstGeom prst="rect">
            <a:avLst/>
          </a:prstGeom>
          <a:noFill/>
        </p:spPr>
        <p:txBody>
          <a:bodyPr wrap="square">
            <a:spAutoFit/>
          </a:bodyPr>
          <a:lstStyle/>
          <a:p>
            <a:pPr>
              <a:defRPr sz="1100">
                <a:solidFill>
                  <a:srgbClr val="A1A1AA"/>
                </a:solidFill>
                <a:latin typeface="Segoe UI"/>
              </a:defRPr>
            </a:pPr>
            <a:r>
              <a:t>Demonstrating how rigorous software engineering, invariant preservation, and empirical testing elevate a classical benchmark into an industrial-grade ML micro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04. OBJECTIVES</a:t>
            </a:r>
          </a:p>
          <a:p>
            <a:pPr>
              <a:defRPr sz="1800" b="1">
                <a:solidFill>
                  <a:srgbClr val="FFFFFF"/>
                </a:solidFill>
                <a:latin typeface="Segoe UI"/>
              </a:defRPr>
            </a:pPr>
            <a:r>
              <a:t>EXECUTABLE ENGINEERING &amp; RESEARCH OBJECTIVES</a:t>
            </a:r>
          </a:p>
        </p:txBody>
      </p:sp>
      <p:sp>
        <p:nvSpPr>
          <p:cNvPr id="3" name="Rectangle 2"/>
          <p:cNvSpPr/>
          <p:nvPr/>
        </p:nvSpPr>
        <p:spPr>
          <a:xfrm>
            <a:off x="731520" y="1325880"/>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39"/>
            <a:ext cx="10332719" cy="320040"/>
          </a:xfrm>
          <a:prstGeom prst="rect">
            <a:avLst/>
          </a:prstGeom>
          <a:noFill/>
        </p:spPr>
        <p:txBody>
          <a:bodyPr wrap="square" lIns="0" tIns="0" rIns="0" bIns="0">
            <a:spAutoFit/>
          </a:bodyPr>
          <a:lstStyle/>
          <a:p>
            <a:pPr>
              <a:defRPr sz="1000" b="1">
                <a:solidFill>
                  <a:srgbClr val="A1A1AA"/>
                </a:solidFill>
                <a:latin typeface="Consolas"/>
              </a:defRPr>
            </a:pPr>
            <a:r>
              <a:t>OBJ 1: PROVENANCE &amp; PARTITION HYGIENE</a:t>
            </a:r>
          </a:p>
        </p:txBody>
      </p:sp>
      <p:sp>
        <p:nvSpPr>
          <p:cNvPr id="5" name="TextBox 4"/>
          <p:cNvSpPr txBox="1"/>
          <p:nvPr/>
        </p:nvSpPr>
        <p:spPr>
          <a:xfrm>
            <a:off x="914400" y="1581912"/>
            <a:ext cx="10332720" cy="320040"/>
          </a:xfrm>
          <a:prstGeom prst="rect">
            <a:avLst/>
          </a:prstGeom>
          <a:noFill/>
        </p:spPr>
        <p:txBody>
          <a:bodyPr wrap="square">
            <a:spAutoFit/>
          </a:bodyPr>
          <a:lstStyle/>
          <a:p>
            <a:pPr>
              <a:defRPr sz="1000">
                <a:solidFill>
                  <a:srgbClr val="A1A1AA"/>
                </a:solidFill>
                <a:latin typeface="Segoe UI"/>
              </a:defRPr>
            </a:pPr>
            <a:r>
              <a:t>Curate authentic MNIST data from NIST SD 19/3 with documented provenance and strict 20k/3k/10k zero-leakage partitions.</a:t>
            </a:r>
          </a:p>
        </p:txBody>
      </p:sp>
      <p:sp>
        <p:nvSpPr>
          <p:cNvPr id="6" name="Rectangle 5"/>
          <p:cNvSpPr/>
          <p:nvPr/>
        </p:nvSpPr>
        <p:spPr>
          <a:xfrm>
            <a:off x="731520" y="2029967"/>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67127"/>
            <a:ext cx="10332719" cy="320040"/>
          </a:xfrm>
          <a:prstGeom prst="rect">
            <a:avLst/>
          </a:prstGeom>
          <a:noFill/>
        </p:spPr>
        <p:txBody>
          <a:bodyPr wrap="square" lIns="0" tIns="0" rIns="0" bIns="0">
            <a:spAutoFit/>
          </a:bodyPr>
          <a:lstStyle/>
          <a:p>
            <a:pPr>
              <a:defRPr sz="1000" b="1">
                <a:solidFill>
                  <a:srgbClr val="A1A1AA"/>
                </a:solidFill>
                <a:latin typeface="Consolas"/>
              </a:defRPr>
            </a:pPr>
            <a:r>
              <a:t>OBJ 2: CANONICAL PREPROCESSING INVARIANT</a:t>
            </a:r>
          </a:p>
        </p:txBody>
      </p:sp>
      <p:sp>
        <p:nvSpPr>
          <p:cNvPr id="8" name="TextBox 7"/>
          <p:cNvSpPr txBox="1"/>
          <p:nvPr/>
        </p:nvSpPr>
        <p:spPr>
          <a:xfrm>
            <a:off x="914400" y="2286000"/>
            <a:ext cx="10332720" cy="320040"/>
          </a:xfrm>
          <a:prstGeom prst="rect">
            <a:avLst/>
          </a:prstGeom>
          <a:noFill/>
        </p:spPr>
        <p:txBody>
          <a:bodyPr wrap="square">
            <a:spAutoFit/>
          </a:bodyPr>
          <a:lstStyle/>
          <a:p>
            <a:pPr>
              <a:defRPr sz="1000">
                <a:solidFill>
                  <a:srgbClr val="A1A1AA"/>
                </a:solidFill>
                <a:latin typeface="Segoe UI"/>
              </a:defRPr>
            </a:pPr>
            <a:r>
              <a:t>Implement a unified 7-stage preprocessing pipeline shared identically between training and real-time live web canvas inference.</a:t>
            </a:r>
          </a:p>
        </p:txBody>
      </p:sp>
      <p:sp>
        <p:nvSpPr>
          <p:cNvPr id="9" name="Rectangle 8"/>
          <p:cNvSpPr/>
          <p:nvPr/>
        </p:nvSpPr>
        <p:spPr>
          <a:xfrm>
            <a:off x="731520" y="2734056"/>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71216"/>
            <a:ext cx="10332719" cy="320040"/>
          </a:xfrm>
          <a:prstGeom prst="rect">
            <a:avLst/>
          </a:prstGeom>
          <a:noFill/>
        </p:spPr>
        <p:txBody>
          <a:bodyPr wrap="square" lIns="0" tIns="0" rIns="0" bIns="0">
            <a:spAutoFit/>
          </a:bodyPr>
          <a:lstStyle/>
          <a:p>
            <a:pPr>
              <a:defRPr sz="1000" b="1">
                <a:solidFill>
                  <a:srgbClr val="A1A1AA"/>
                </a:solidFill>
                <a:latin typeface="Consolas"/>
              </a:defRPr>
            </a:pPr>
            <a:r>
              <a:t>OBJ 3: MULTI-MODEL BENCHMARK SUITE</a:t>
            </a:r>
          </a:p>
        </p:txBody>
      </p:sp>
      <p:sp>
        <p:nvSpPr>
          <p:cNvPr id="11" name="TextBox 10"/>
          <p:cNvSpPr txBox="1"/>
          <p:nvPr/>
        </p:nvSpPr>
        <p:spPr>
          <a:xfrm>
            <a:off x="914400" y="2990088"/>
            <a:ext cx="10332720" cy="320040"/>
          </a:xfrm>
          <a:prstGeom prst="rect">
            <a:avLst/>
          </a:prstGeom>
          <a:noFill/>
        </p:spPr>
        <p:txBody>
          <a:bodyPr wrap="square">
            <a:spAutoFit/>
          </a:bodyPr>
          <a:lstStyle/>
          <a:p>
            <a:pPr>
              <a:defRPr sz="1000">
                <a:solidFill>
                  <a:srgbClr val="A1A1AA"/>
                </a:solidFill>
                <a:latin typeface="Segoe UI"/>
              </a:defRPr>
            </a:pPr>
            <a:r>
              <a:t>Train and empirically benchmark 7 distinct machine learning algorithms on 10,000 isolated test samples without fabrication.</a:t>
            </a:r>
          </a:p>
        </p:txBody>
      </p:sp>
      <p:sp>
        <p:nvSpPr>
          <p:cNvPr id="12" name="Rectangle 11"/>
          <p:cNvSpPr/>
          <p:nvPr/>
        </p:nvSpPr>
        <p:spPr>
          <a:xfrm>
            <a:off x="731520" y="3438144"/>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75303"/>
            <a:ext cx="10332719" cy="320040"/>
          </a:xfrm>
          <a:prstGeom prst="rect">
            <a:avLst/>
          </a:prstGeom>
          <a:noFill/>
        </p:spPr>
        <p:txBody>
          <a:bodyPr wrap="square" lIns="0" tIns="0" rIns="0" bIns="0">
            <a:spAutoFit/>
          </a:bodyPr>
          <a:lstStyle/>
          <a:p>
            <a:pPr>
              <a:defRPr sz="1000" b="1">
                <a:solidFill>
                  <a:srgbClr val="A1A1AA"/>
                </a:solidFill>
                <a:latin typeface="Consolas"/>
              </a:defRPr>
            </a:pPr>
            <a:r>
              <a:t>OBJ 4: SUCCESS CRITERION EXCEEDED</a:t>
            </a:r>
          </a:p>
        </p:txBody>
      </p:sp>
      <p:sp>
        <p:nvSpPr>
          <p:cNvPr id="14" name="TextBox 13"/>
          <p:cNvSpPr txBox="1"/>
          <p:nvPr/>
        </p:nvSpPr>
        <p:spPr>
          <a:xfrm>
            <a:off x="914400" y="3694176"/>
            <a:ext cx="10332720" cy="320040"/>
          </a:xfrm>
          <a:prstGeom prst="rect">
            <a:avLst/>
          </a:prstGeom>
          <a:noFill/>
        </p:spPr>
        <p:txBody>
          <a:bodyPr wrap="square">
            <a:spAutoFit/>
          </a:bodyPr>
          <a:lstStyle/>
          <a:p>
            <a:pPr>
              <a:defRPr sz="1000">
                <a:solidFill>
                  <a:srgbClr val="A1A1AA"/>
                </a:solidFill>
                <a:latin typeface="Segoe UI"/>
              </a:defRPr>
            </a:pPr>
            <a:r>
              <a:t>Achieve &gt;=95.0% accuracy and &gt;=0.950 macro F1 (achieved 98.31% accuracy and 0.9831 macro F1).</a:t>
            </a:r>
          </a:p>
        </p:txBody>
      </p:sp>
      <p:sp>
        <p:nvSpPr>
          <p:cNvPr id="15" name="Rectangle 14"/>
          <p:cNvSpPr/>
          <p:nvPr/>
        </p:nvSpPr>
        <p:spPr>
          <a:xfrm>
            <a:off x="731520" y="4142232"/>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79392"/>
            <a:ext cx="10332719" cy="320040"/>
          </a:xfrm>
          <a:prstGeom prst="rect">
            <a:avLst/>
          </a:prstGeom>
          <a:noFill/>
        </p:spPr>
        <p:txBody>
          <a:bodyPr wrap="square" lIns="0" tIns="0" rIns="0" bIns="0">
            <a:spAutoFit/>
          </a:bodyPr>
          <a:lstStyle/>
          <a:p>
            <a:pPr>
              <a:defRPr sz="1000" b="1">
                <a:solidFill>
                  <a:srgbClr val="A1A1AA"/>
                </a:solidFill>
                <a:latin typeface="Consolas"/>
              </a:defRPr>
            </a:pPr>
            <a:r>
              <a:t>OBJ 5: CONFIDENCE CALIBRATION &amp; ENTROPY</a:t>
            </a:r>
          </a:p>
        </p:txBody>
      </p:sp>
      <p:sp>
        <p:nvSpPr>
          <p:cNvPr id="17" name="TextBox 16"/>
          <p:cNvSpPr txBox="1"/>
          <p:nvPr/>
        </p:nvSpPr>
        <p:spPr>
          <a:xfrm>
            <a:off x="914400" y="4398264"/>
            <a:ext cx="10332720" cy="320040"/>
          </a:xfrm>
          <a:prstGeom prst="rect">
            <a:avLst/>
          </a:prstGeom>
          <a:noFill/>
        </p:spPr>
        <p:txBody>
          <a:bodyPr wrap="square">
            <a:spAutoFit/>
          </a:bodyPr>
          <a:lstStyle/>
          <a:p>
            <a:pPr>
              <a:defRPr sz="1000">
                <a:solidFill>
                  <a:srgbClr val="A1A1AA"/>
                </a:solidFill>
                <a:latin typeface="Segoe UI"/>
              </a:defRPr>
            </a:pPr>
            <a:r>
              <a:t>Implement post-hoc temperature scaling (T = 0.9170) to minimize ECE and integrate Shannon entropy rejection thresholds.</a:t>
            </a:r>
          </a:p>
        </p:txBody>
      </p:sp>
      <p:sp>
        <p:nvSpPr>
          <p:cNvPr id="18" name="Rectangle 17"/>
          <p:cNvSpPr/>
          <p:nvPr/>
        </p:nvSpPr>
        <p:spPr>
          <a:xfrm>
            <a:off x="731520" y="4846320"/>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83480"/>
            <a:ext cx="10332719" cy="320040"/>
          </a:xfrm>
          <a:prstGeom prst="rect">
            <a:avLst/>
          </a:prstGeom>
          <a:noFill/>
        </p:spPr>
        <p:txBody>
          <a:bodyPr wrap="square" lIns="0" tIns="0" rIns="0" bIns="0">
            <a:spAutoFit/>
          </a:bodyPr>
          <a:lstStyle/>
          <a:p>
            <a:pPr>
              <a:defRPr sz="1000" b="1">
                <a:solidFill>
                  <a:srgbClr val="A1A1AA"/>
                </a:solidFill>
                <a:latin typeface="Consolas"/>
              </a:defRPr>
            </a:pPr>
            <a:r>
              <a:t>OBJ 6: VISUAL EXPLAINABILITY VIA GRAD-CAM</a:t>
            </a:r>
          </a:p>
        </p:txBody>
      </p:sp>
      <p:sp>
        <p:nvSpPr>
          <p:cNvPr id="20" name="TextBox 19"/>
          <p:cNvSpPr txBox="1"/>
          <p:nvPr/>
        </p:nvSpPr>
        <p:spPr>
          <a:xfrm>
            <a:off x="914400" y="5102352"/>
            <a:ext cx="10332720" cy="320040"/>
          </a:xfrm>
          <a:prstGeom prst="rect">
            <a:avLst/>
          </a:prstGeom>
          <a:noFill/>
        </p:spPr>
        <p:txBody>
          <a:bodyPr wrap="square">
            <a:spAutoFit/>
          </a:bodyPr>
          <a:lstStyle/>
          <a:p>
            <a:pPr>
              <a:defRPr sz="1000">
                <a:solidFill>
                  <a:srgbClr val="A1A1AA"/>
                </a:solidFill>
                <a:latin typeface="Segoe UI"/>
              </a:defRPr>
            </a:pPr>
            <a:r>
              <a:t>Engineer gradient backpropagation hooks on target layer 'conv_cam' to generate 300 DPI visual saliency attribution maps.</a:t>
            </a:r>
          </a:p>
        </p:txBody>
      </p:sp>
      <p:sp>
        <p:nvSpPr>
          <p:cNvPr id="21" name="Rectangle 20"/>
          <p:cNvSpPr/>
          <p:nvPr/>
        </p:nvSpPr>
        <p:spPr>
          <a:xfrm>
            <a:off x="731520" y="5550408"/>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687568"/>
            <a:ext cx="10332719" cy="320040"/>
          </a:xfrm>
          <a:prstGeom prst="rect">
            <a:avLst/>
          </a:prstGeom>
          <a:noFill/>
        </p:spPr>
        <p:txBody>
          <a:bodyPr wrap="square" lIns="0" tIns="0" rIns="0" bIns="0">
            <a:spAutoFit/>
          </a:bodyPr>
          <a:lstStyle/>
          <a:p>
            <a:pPr>
              <a:defRPr sz="1000" b="1">
                <a:solidFill>
                  <a:srgbClr val="A1A1AA"/>
                </a:solidFill>
                <a:latin typeface="Consolas"/>
              </a:defRPr>
            </a:pPr>
            <a:r>
              <a:t>OBJ 7: ML MISSION CONTROL DASHBOARD</a:t>
            </a:r>
          </a:p>
        </p:txBody>
      </p:sp>
      <p:sp>
        <p:nvSpPr>
          <p:cNvPr id="23" name="TextBox 22"/>
          <p:cNvSpPr txBox="1"/>
          <p:nvPr/>
        </p:nvSpPr>
        <p:spPr>
          <a:xfrm>
            <a:off x="914400" y="5806440"/>
            <a:ext cx="10332720" cy="320040"/>
          </a:xfrm>
          <a:prstGeom prst="rect">
            <a:avLst/>
          </a:prstGeom>
          <a:noFill/>
        </p:spPr>
        <p:txBody>
          <a:bodyPr wrap="square">
            <a:spAutoFit/>
          </a:bodyPr>
          <a:lstStyle/>
          <a:p>
            <a:pPr>
              <a:defRPr sz="1000">
                <a:solidFill>
                  <a:srgbClr val="A1A1AA"/>
                </a:solidFill>
                <a:latin typeface="Segoe UI"/>
              </a:defRPr>
            </a:pPr>
            <a:r>
              <a:t>Deploy an interactive full-stack web console with real-time HTML5 canvas drawing, telemetry HUD, and forensics.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05. ML FORMULATION</a:t>
            </a:r>
          </a:p>
          <a:p>
            <a:pPr>
              <a:defRPr sz="1800" b="1">
                <a:solidFill>
                  <a:srgbClr val="FFFFFF"/>
                </a:solidFill>
                <a:latin typeface="Segoe UI"/>
              </a:defRPr>
            </a:pPr>
            <a:r>
              <a:t>MATHEMATICAL PROBLEM FORMULATION &amp; FORMAL METRIC SPACE</a:t>
            </a:r>
          </a:p>
        </p:txBody>
      </p:sp>
      <p:sp>
        <p:nvSpPr>
          <p:cNvPr id="3" name="Rectangle 2"/>
          <p:cNvSpPr/>
          <p:nvPr/>
        </p:nvSpPr>
        <p:spPr>
          <a:xfrm>
            <a:off x="73152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INPUT &amp; LABEL SPACES</a:t>
            </a:r>
          </a:p>
        </p:txBody>
      </p:sp>
      <p:sp>
        <p:nvSpPr>
          <p:cNvPr id="5" name="TextBox 4"/>
          <p:cNvSpPr txBox="1"/>
          <p:nvPr/>
        </p:nvSpPr>
        <p:spPr>
          <a:xfrm>
            <a:off x="914400" y="1920240"/>
            <a:ext cx="2926080" cy="4023360"/>
          </a:xfrm>
          <a:prstGeom prst="rect">
            <a:avLst/>
          </a:prstGeom>
          <a:noFill/>
        </p:spPr>
        <p:txBody>
          <a:bodyPr wrap="square">
            <a:spAutoFit/>
          </a:bodyPr>
          <a:lstStyle/>
          <a:p>
            <a:pPr>
              <a:defRPr sz="1050">
                <a:solidFill>
                  <a:srgbClr val="A1A1AA"/>
                </a:solidFill>
                <a:latin typeface="Segoe UI"/>
              </a:defRPr>
            </a:pPr>
            <a:r>
              <a:t>•  Input Tensor Space: X in [0, 1]^(28x28x1), normalized single-channel floating-point matrices.</a:t>
            </a:r>
          </a:p>
          <a:p/>
          <a:p>
            <a:pPr>
              <a:defRPr sz="1050">
                <a:solidFill>
                  <a:srgbClr val="A1A1AA"/>
                </a:solidFill>
                <a:latin typeface="Segoe UI"/>
              </a:defRPr>
            </a:pPr>
            <a:r>
              <a:t>•  Flattened Feature Space: x in R^784 for classical classifiers.</a:t>
            </a:r>
          </a:p>
          <a:p/>
          <a:p>
            <a:pPr>
              <a:defRPr sz="1050">
                <a:solidFill>
                  <a:srgbClr val="A1A1AA"/>
                </a:solidFill>
                <a:latin typeface="Segoe UI"/>
              </a:defRPr>
            </a:pPr>
            <a:r>
              <a:t>•  Categorical Label Space: Y = {0, 1, ..., 9}, a 10-class mutually exclusive discrete set.</a:t>
            </a:r>
          </a:p>
          <a:p/>
          <a:p>
            <a:pPr>
              <a:defRPr sz="1050">
                <a:solidFill>
                  <a:srgbClr val="A1A1AA"/>
                </a:solidFill>
                <a:latin typeface="Segoe UI"/>
              </a:defRPr>
            </a:pPr>
            <a:r>
              <a:t>•  Dataset Domain: D = {(X_i, y_i)} drawn i.i.d. from empirical handwriting distribution P(X, Y).</a:t>
            </a:r>
          </a:p>
        </p:txBody>
      </p:sp>
      <p:sp>
        <p:nvSpPr>
          <p:cNvPr id="6" name="Rectangle 5"/>
          <p:cNvSpPr/>
          <p:nvPr/>
        </p:nvSpPr>
        <p:spPr>
          <a:xfrm>
            <a:off x="434340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LOSS &amp; OPTIMIZATION</a:t>
            </a:r>
          </a:p>
        </p:txBody>
      </p:sp>
      <p:sp>
        <p:nvSpPr>
          <p:cNvPr id="8" name="TextBox 7"/>
          <p:cNvSpPr txBox="1"/>
          <p:nvPr/>
        </p:nvSpPr>
        <p:spPr>
          <a:xfrm>
            <a:off x="4526280" y="1920240"/>
            <a:ext cx="2926080" cy="4023360"/>
          </a:xfrm>
          <a:prstGeom prst="rect">
            <a:avLst/>
          </a:prstGeom>
          <a:noFill/>
        </p:spPr>
        <p:txBody>
          <a:bodyPr wrap="square">
            <a:spAutoFit/>
          </a:bodyPr>
          <a:lstStyle/>
          <a:p>
            <a:pPr>
              <a:defRPr sz="1050">
                <a:solidFill>
                  <a:srgbClr val="A1A1AA"/>
                </a:solidFill>
                <a:latin typeface="Segoe UI"/>
              </a:defRPr>
            </a:pPr>
            <a:r>
              <a:t>•  Objective: Sparse Categorical Cross-Entropy (Multinomial Negative Log-Likelihood):</a:t>
            </a:r>
          </a:p>
          <a:p/>
          <a:p>
            <a:pPr>
              <a:defRPr sz="1050">
                <a:solidFill>
                  <a:srgbClr val="A1A1AA"/>
                </a:solidFill>
                <a:latin typeface="Segoe UI"/>
              </a:defRPr>
            </a:pPr>
            <a:r>
              <a:t>•  L_CE(theta) = - (1/N) * sum_i log( exp(z_{i, y_i}) / sum_j exp(z_{i, j}) ).</a:t>
            </a:r>
          </a:p>
          <a:p/>
          <a:p>
            <a:pPr>
              <a:defRPr sz="1050">
                <a:solidFill>
                  <a:srgbClr val="A1A1AA"/>
                </a:solidFill>
                <a:latin typeface="Segoe UI"/>
              </a:defRPr>
            </a:pPr>
            <a:r>
              <a:t>•  Optimizer: Adam with mini-batch stochastic gradient updates (beta1=0.9, beta2=0.999, eps=1e-7).</a:t>
            </a:r>
          </a:p>
          <a:p/>
          <a:p>
            <a:pPr>
              <a:defRPr sz="1050">
                <a:solidFill>
                  <a:srgbClr val="A1A1AA"/>
                </a:solidFill>
                <a:latin typeface="Segoe UI"/>
              </a:defRPr>
            </a:pPr>
            <a:r>
              <a:t>•  Regularization: Dual spatial dropout (p=0.25) and dense dropout (p=0.40).</a:t>
            </a:r>
          </a:p>
        </p:txBody>
      </p:sp>
      <p:sp>
        <p:nvSpPr>
          <p:cNvPr id="9" name="Rectangle 8"/>
          <p:cNvSpPr/>
          <p:nvPr/>
        </p:nvSpPr>
        <p:spPr>
          <a:xfrm>
            <a:off x="795528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EVALUATION METRIC SPACE</a:t>
            </a:r>
          </a:p>
        </p:txBody>
      </p:sp>
      <p:sp>
        <p:nvSpPr>
          <p:cNvPr id="11" name="TextBox 10"/>
          <p:cNvSpPr txBox="1"/>
          <p:nvPr/>
        </p:nvSpPr>
        <p:spPr>
          <a:xfrm>
            <a:off x="8138160" y="1920240"/>
            <a:ext cx="2926080" cy="4023360"/>
          </a:xfrm>
          <a:prstGeom prst="rect">
            <a:avLst/>
          </a:prstGeom>
          <a:noFill/>
        </p:spPr>
        <p:txBody>
          <a:bodyPr wrap="square">
            <a:spAutoFit/>
          </a:bodyPr>
          <a:lstStyle/>
          <a:p>
            <a:pPr>
              <a:defRPr sz="1050">
                <a:solidFill>
                  <a:srgbClr val="A1A1AA"/>
                </a:solidFill>
                <a:latin typeface="Segoe UI"/>
              </a:defRPr>
            </a:pPr>
            <a:r>
              <a:t>•  Primary Metric: Categorical Accuracy = (TP + TN) / Total.</a:t>
            </a:r>
          </a:p>
          <a:p/>
          <a:p>
            <a:pPr>
              <a:defRPr sz="1050">
                <a:solidFill>
                  <a:srgbClr val="A1A1AA"/>
                </a:solidFill>
                <a:latin typeface="Segoe UI"/>
              </a:defRPr>
            </a:pPr>
            <a:r>
              <a:t>•  Class-Balanced Metric: Macro-Averaged F1-Score = (1/10) * sum_c F1_c.</a:t>
            </a:r>
          </a:p>
          <a:p/>
          <a:p>
            <a:pPr>
              <a:defRPr sz="1050">
                <a:solidFill>
                  <a:srgbClr val="A1A1AA"/>
                </a:solidFill>
                <a:latin typeface="Segoe UI"/>
              </a:defRPr>
            </a:pPr>
            <a:r>
              <a:t>•  Calibration Metric: Expected Calibration Error (ECE) across M empirical confidence bins.</a:t>
            </a:r>
          </a:p>
          <a:p/>
          <a:p>
            <a:pPr>
              <a:defRPr sz="1050">
                <a:solidFill>
                  <a:srgbClr val="A1A1AA"/>
                </a:solidFill>
                <a:latin typeface="Segoe UI"/>
              </a:defRPr>
            </a:pPr>
            <a:r>
              <a:t>•  Epistemic Entropy: H(p) = - sum_j p_j * log(p_j) nats.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06. SYSTEM ARCHITECTURE</a:t>
            </a:r>
          </a:p>
          <a:p>
            <a:pPr>
              <a:defRPr sz="1800" b="1">
                <a:solidFill>
                  <a:srgbClr val="FFFFFF"/>
                </a:solidFill>
                <a:latin typeface="Segoe UI"/>
              </a:defRPr>
            </a:pPr>
            <a:r>
              <a:t>END-TO-END SYSTEM ARCHITECTURE &amp; DATA FLOW</a:t>
            </a:r>
          </a:p>
        </p:txBody>
      </p:sp>
      <p:pic>
        <p:nvPicPr>
          <p:cNvPr id="3" name="Picture 2" descr="system_workflow.png"/>
          <p:cNvPicPr>
            <a:picLocks noChangeAspect="1"/>
          </p:cNvPicPr>
          <p:nvPr/>
        </p:nvPicPr>
        <p:blipFill>
          <a:blip r:embed="rId2"/>
          <a:stretch>
            <a:fillRect/>
          </a:stretch>
        </p:blipFill>
        <p:spPr>
          <a:xfrm>
            <a:off x="731520" y="1371600"/>
            <a:ext cx="6217920" cy="3553097"/>
          </a:xfrm>
          <a:prstGeom prst="rect">
            <a:avLst/>
          </a:prstGeom>
        </p:spPr>
      </p:pic>
      <p:sp>
        <p:nvSpPr>
          <p:cNvPr id="4" name="Rectangle 3"/>
          <p:cNvSpPr/>
          <p:nvPr/>
        </p:nvSpPr>
        <p:spPr>
          <a:xfrm>
            <a:off x="7223760" y="1371600"/>
            <a:ext cx="420624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0" y="1508760"/>
            <a:ext cx="3840479" cy="320040"/>
          </a:xfrm>
          <a:prstGeom prst="rect">
            <a:avLst/>
          </a:prstGeom>
          <a:noFill/>
        </p:spPr>
        <p:txBody>
          <a:bodyPr wrap="square" lIns="0" tIns="0" rIns="0" bIns="0">
            <a:spAutoFit/>
          </a:bodyPr>
          <a:lstStyle/>
          <a:p>
            <a:pPr>
              <a:defRPr sz="1000" b="1">
                <a:solidFill>
                  <a:srgbClr val="A1A1AA"/>
                </a:solidFill>
                <a:latin typeface="Consolas"/>
              </a:defRPr>
            </a:pPr>
            <a:r>
              <a:t>CORE ARCHITECTURAL LAYERS</a:t>
            </a:r>
          </a:p>
        </p:txBody>
      </p:sp>
      <p:sp>
        <p:nvSpPr>
          <p:cNvPr id="6" name="TextBox 5"/>
          <p:cNvSpPr txBox="1"/>
          <p:nvPr/>
        </p:nvSpPr>
        <p:spPr>
          <a:xfrm>
            <a:off x="7406640" y="1874519"/>
            <a:ext cx="3840480" cy="4114800"/>
          </a:xfrm>
          <a:prstGeom prst="rect">
            <a:avLst/>
          </a:prstGeom>
          <a:noFill/>
        </p:spPr>
        <p:txBody>
          <a:bodyPr wrap="square">
            <a:spAutoFit/>
          </a:bodyPr>
          <a:lstStyle/>
          <a:p>
            <a:pPr>
              <a:defRPr sz="950" b="1">
                <a:solidFill>
                  <a:srgbClr val="1DB954"/>
                </a:solidFill>
                <a:latin typeface="Consolas"/>
              </a:defRPr>
            </a:pPr>
            <a:r>
              <a:t>1. INPUT INGESTION</a:t>
            </a:r>
          </a:p>
          <a:p>
            <a:pPr>
              <a:defRPr sz="950">
                <a:solidFill>
                  <a:srgbClr val="A1A1AA"/>
                </a:solidFill>
                <a:latin typeface="Segoe UI"/>
              </a:defRPr>
            </a:pPr>
            <a:r>
              <a:t>Captures HTML5 drawing canvas dataURLs, uploads, or offline benchmark tensors.</a:t>
            </a:r>
          </a:p>
          <a:p/>
          <a:p>
            <a:pPr>
              <a:defRPr sz="950" b="1">
                <a:solidFill>
                  <a:srgbClr val="1DB954"/>
                </a:solidFill>
                <a:latin typeface="Consolas"/>
              </a:defRPr>
            </a:pPr>
            <a:r>
              <a:t>2. CANONICAL PREPROCESSOR</a:t>
            </a:r>
          </a:p>
          <a:p>
            <a:pPr>
              <a:defRPr sz="950">
                <a:solidFill>
                  <a:srgbClr val="A1A1AA"/>
                </a:solidFill>
                <a:latin typeface="Segoe UI"/>
              </a:defRPr>
            </a:pPr>
            <a:r>
              <a:t>7-stage invariant: Contrast inversion -&gt; Otsu threshold -&gt; Bounding box -&gt; 20x20 scale -&gt; CoM center -&gt; 28x28 float32.</a:t>
            </a:r>
          </a:p>
          <a:p/>
          <a:p>
            <a:pPr>
              <a:defRPr sz="950" b="1">
                <a:solidFill>
                  <a:srgbClr val="1DB954"/>
                </a:solidFill>
                <a:latin typeface="Consolas"/>
              </a:defRPr>
            </a:pPr>
            <a:r>
              <a:t>3. MODEL INFERENCE ENGINE</a:t>
            </a:r>
          </a:p>
          <a:p>
            <a:pPr>
              <a:defRPr sz="950">
                <a:solidFill>
                  <a:srgbClr val="A1A1AA"/>
                </a:solidFill>
                <a:latin typeface="Segoe UI"/>
              </a:defRPr>
            </a:pPr>
            <a:r>
              <a:t>Dual-block DeepConvNet processes normalized tensor in 9.14 ms on CPU.</a:t>
            </a:r>
          </a:p>
          <a:p/>
          <a:p>
            <a:pPr>
              <a:defRPr sz="950" b="1">
                <a:solidFill>
                  <a:srgbClr val="1DB954"/>
                </a:solidFill>
                <a:latin typeface="Consolas"/>
              </a:defRPr>
            </a:pPr>
            <a:r>
              <a:t>4. CONFIDENCE FORENSICS</a:t>
            </a:r>
          </a:p>
          <a:p>
            <a:pPr>
              <a:defRPr sz="950">
                <a:solidFill>
                  <a:srgbClr val="A1A1AA"/>
                </a:solidFill>
                <a:latin typeface="Segoe UI"/>
              </a:defRPr>
            </a:pPr>
            <a:r>
              <a:t>Applies temperature scaling (T=0.9170) and computes Shannon entropy to reject OOD noise.</a:t>
            </a:r>
          </a:p>
          <a:p/>
          <a:p>
            <a:pPr>
              <a:defRPr sz="950" b="1">
                <a:solidFill>
                  <a:srgbClr val="1DB954"/>
                </a:solidFill>
                <a:latin typeface="Consolas"/>
              </a:defRPr>
            </a:pPr>
            <a:r>
              <a:t>5. EXPLAINABILITY HOOK</a:t>
            </a:r>
          </a:p>
          <a:p>
            <a:pPr>
              <a:defRPr sz="950">
                <a:solidFill>
                  <a:srgbClr val="A1A1AA"/>
                </a:solidFill>
                <a:latin typeface="Segoe UI"/>
              </a:defRPr>
            </a:pPr>
            <a:r>
              <a:t>Grad-CAM backpropagates class gradients to 'conv_cam' for instant visual heatmap overlay.</a:t>
            </a:r>
          </a:p>
          <a:p/>
          <a:p>
            <a:pPr>
              <a:defRPr sz="950" b="1">
                <a:solidFill>
                  <a:srgbClr val="1DB954"/>
                </a:solidFill>
                <a:latin typeface="Consolas"/>
              </a:defRPr>
            </a:pPr>
            <a:r>
              <a:t>6. MISSION CONTROL HUD</a:t>
            </a:r>
          </a:p>
          <a:p>
            <a:pPr>
              <a:defRPr sz="950">
                <a:solidFill>
                  <a:srgbClr val="A1A1AA"/>
                </a:solidFill>
                <a:latin typeface="Segoe UI"/>
              </a:defRPr>
            </a:pPr>
            <a:r>
              <a:t>FastAPI serves real-time telemetry, top-3 probabilities, and forensic metadata.</a:t>
            </a:r>
          </a:p>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07. DATASET + PROVENANCE</a:t>
            </a:r>
          </a:p>
          <a:p>
            <a:pPr>
              <a:defRPr sz="1800" b="1">
                <a:solidFill>
                  <a:srgbClr val="FFFFFF"/>
                </a:solidFill>
                <a:latin typeface="Segoe UI"/>
              </a:defRPr>
            </a:pPr>
            <a:r>
              <a:t>AUTHENTIC DATASET PROVENANCE &amp; ZERO-LEAKAGE HYGIENE</a:t>
            </a:r>
          </a:p>
        </p:txBody>
      </p:sp>
      <p:sp>
        <p:nvSpPr>
          <p:cNvPr id="3" name="Rectangle 2"/>
          <p:cNvSpPr/>
          <p:nvPr/>
        </p:nvSpPr>
        <p:spPr>
          <a:xfrm>
            <a:off x="7315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CORPUS SPECIFICATION &amp; ORIGIN</a:t>
            </a:r>
          </a:p>
        </p:txBody>
      </p:sp>
      <p:sp>
        <p:nvSpPr>
          <p:cNvPr id="5" name="TextBox 4"/>
          <p:cNvSpPr txBox="1"/>
          <p:nvPr/>
        </p:nvSpPr>
        <p:spPr>
          <a:xfrm>
            <a:off x="914400" y="1874519"/>
            <a:ext cx="4846320" cy="4114800"/>
          </a:xfrm>
          <a:prstGeom prst="rect">
            <a:avLst/>
          </a:prstGeom>
          <a:noFill/>
        </p:spPr>
        <p:txBody>
          <a:bodyPr wrap="square">
            <a:spAutoFit/>
          </a:bodyPr>
          <a:lstStyle/>
          <a:p>
            <a:pPr>
              <a:defRPr sz="950">
                <a:solidFill>
                  <a:srgbClr val="A1A1AA"/>
                </a:solidFill>
                <a:latin typeface="Segoe UI"/>
              </a:defRPr>
            </a:pPr>
            <a:r>
              <a:t>•  Dataset Title: Modified National Institute of Standards and Technology (MNIST).</a:t>
            </a:r>
          </a:p>
          <a:p>
            <a:pPr>
              <a:defRPr sz="950">
                <a:solidFill>
                  <a:srgbClr val="A1A1AA"/>
                </a:solidFill>
                <a:latin typeface="Segoe UI"/>
              </a:defRPr>
            </a:pPr>
            <a:r>
              <a:t>•  Originating Curators: Yann LeCun (NYU) &amp; Corinna Cortes (Google Research) (1998) [1].</a:t>
            </a:r>
          </a:p>
          <a:p>
            <a:pPr>
              <a:defRPr sz="950">
                <a:solidFill>
                  <a:srgbClr val="A1A1AA"/>
                </a:solidFill>
                <a:latin typeface="Segoe UI"/>
              </a:defRPr>
            </a:pPr>
            <a:r>
              <a:t>•  Official License: Creative Commons Attribution-Share Alike 3.0 (CC BY-SA 3.0).</a:t>
            </a:r>
          </a:p>
          <a:p>
            <a:pPr>
              <a:defRPr sz="950">
                <a:solidFill>
                  <a:srgbClr val="A1A1AA"/>
                </a:solidFill>
                <a:latin typeface="Segoe UI"/>
              </a:defRPr>
            </a:pPr>
            <a:r>
              <a:t>•  Local Integrity: data/raw/mnist.npz (11.49 MB, SHA-256: 731c5ac6..., 100% verified bit-for-bit).</a:t>
            </a:r>
          </a:p>
          <a:p>
            <a:pPr>
              <a:defRPr sz="950">
                <a:solidFill>
                  <a:srgbClr val="A1A1AA"/>
                </a:solidFill>
                <a:latin typeface="Segoe UI"/>
              </a:defRPr>
            </a:pPr>
            <a:r>
              <a:t>•  Total Corpus Allocation (70,000): 20k Train (28.6%), 3k Val (4.3%), 37k Reserved (52.9%), 10k Test (14.3%).</a:t>
            </a:r>
          </a:p>
          <a:p>
            <a:pPr>
              <a:defRPr sz="950">
                <a:solidFill>
                  <a:srgbClr val="A1A1AA"/>
                </a:solidFill>
                <a:latin typeface="Segoe UI"/>
              </a:defRPr>
            </a:pPr>
            <a:r>
              <a:t>•  Partitioning Rationale: 20k/3k ensures sub-minute CPU training for O(N^2) RBF SVMs while maintaining statistical power.</a:t>
            </a:r>
          </a:p>
          <a:p>
            <a:pPr>
              <a:defRPr sz="950">
                <a:solidFill>
                  <a:srgbClr val="A1A1AA"/>
                </a:solidFill>
                <a:latin typeface="Segoe UI"/>
              </a:defRPr>
            </a:pPr>
            <a:r>
              <a:t>•  Reserved Training Pool: 37,000 instances preserved untouched in local cache; zero test-set leakage.</a:t>
            </a:r>
          </a:p>
          <a:p>
            <a:pPr>
              <a:defRPr sz="950">
                <a:solidFill>
                  <a:srgbClr val="A1A1AA"/>
                </a:solidFill>
                <a:latin typeface="Segoe UI"/>
              </a:defRPr>
            </a:pPr>
            <a:r>
              <a:t>•  Isolated Benchmark Test: 10,000 instances strictly quarantined for unbiased scientific benchmarking.</a:t>
            </a:r>
          </a:p>
        </p:txBody>
      </p:sp>
      <p:sp>
        <p:nvSpPr>
          <p:cNvPr id="6" name="Rectangle 5"/>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ZERO DATA LEAKAGE HYGIENE PROTOCOL</a:t>
            </a:r>
          </a:p>
        </p:txBody>
      </p:sp>
      <p:sp>
        <p:nvSpPr>
          <p:cNvPr id="8" name="TextBox 7"/>
          <p:cNvSpPr txBox="1"/>
          <p:nvPr/>
        </p:nvSpPr>
        <p:spPr>
          <a:xfrm>
            <a:off x="6400800" y="1874519"/>
            <a:ext cx="4846320" cy="4114800"/>
          </a:xfrm>
          <a:prstGeom prst="rect">
            <a:avLst/>
          </a:prstGeom>
          <a:noFill/>
        </p:spPr>
        <p:txBody>
          <a:bodyPr wrap="square">
            <a:spAutoFit/>
          </a:bodyPr>
          <a:lstStyle/>
          <a:p>
            <a:pPr>
              <a:defRPr sz="950">
                <a:solidFill>
                  <a:srgbClr val="A1A1AA"/>
                </a:solidFill>
                <a:latin typeface="Segoe UI"/>
              </a:defRPr>
            </a:pPr>
            <a:r>
              <a:t>•  Air-Gapped Test Set: The 10,000 test images are never exposed during training, feature scaling, or tuning.</a:t>
            </a:r>
          </a:p>
          <a:p>
            <a:pPr>
              <a:defRPr sz="950">
                <a:solidFill>
                  <a:srgbClr val="A1A1AA"/>
                </a:solidFill>
                <a:latin typeface="Segoe UI"/>
              </a:defRPr>
            </a:pPr>
            <a:r>
              <a:t>•  Cryptographic Integrity: SHA-256 checksum (731c5ac6...) verified against official Google Cloud mirror.</a:t>
            </a:r>
          </a:p>
          <a:p>
            <a:pPr>
              <a:defRPr sz="950">
                <a:solidFill>
                  <a:srgbClr val="A1A1AA"/>
                </a:solidFill>
                <a:latin typeface="Segoe UI"/>
              </a:defRPr>
            </a:pPr>
            <a:r>
              <a:t>•  Hash-Based Disjointness: MD5 collision testing confirms 0 raster duplicates and 0 cross-split leakage instances.</a:t>
            </a:r>
          </a:p>
          <a:p>
            <a:pPr>
              <a:defRPr sz="950">
                <a:solidFill>
                  <a:srgbClr val="A1A1AA"/>
                </a:solidFill>
                <a:latin typeface="Segoe UI"/>
              </a:defRPr>
            </a:pPr>
            <a:r>
              <a:t>•  Deterministic Seeding: Global seed RANDOM_SEED = 42 guarantees exact reproducibility across all runs.</a:t>
            </a:r>
          </a:p>
          <a:p>
            <a:pPr>
              <a:defRPr sz="950">
                <a:solidFill>
                  <a:srgbClr val="A1A1AA"/>
                </a:solidFill>
                <a:latin typeface="Segoe UI"/>
              </a:defRPr>
            </a:pPr>
            <a:r>
              <a:t>•  Buffer Memory Isolation: Automated pytest assertions confirm zero shared memory buffers (shares_memory=False).</a:t>
            </a:r>
          </a:p>
          <a:p>
            <a:pPr>
              <a:defRPr sz="950">
                <a:solidFill>
                  <a:srgbClr val="A1A1AA"/>
                </a:solidFill>
                <a:latin typeface="Segoe UI"/>
              </a:defRPr>
            </a:pPr>
            <a:r>
              <a:t>•  Offline Reproducibility: Autonomous loading from data/raw/mnist.npz guarantees 100% offline pipeline execution.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08. DATASET CHARACTERISTICS + EDA</a:t>
            </a:r>
          </a:p>
          <a:p>
            <a:pPr>
              <a:defRPr sz="1800" b="1">
                <a:solidFill>
                  <a:srgbClr val="FFFFFF"/>
                </a:solidFill>
                <a:latin typeface="Segoe UI"/>
              </a:defRPr>
            </a:pPr>
            <a:r>
              <a:t>EMPIRICAL EXPLORATORY DATA ANALYSIS &amp; DIGIT TOPOLOGY</a:t>
            </a:r>
          </a:p>
        </p:txBody>
      </p:sp>
      <p:pic>
        <p:nvPicPr>
          <p:cNvPr id="3" name="Picture 2" descr="sample_image_grid.png"/>
          <p:cNvPicPr>
            <a:picLocks noChangeAspect="1"/>
          </p:cNvPicPr>
          <p:nvPr/>
        </p:nvPicPr>
        <p:blipFill>
          <a:blip r:embed="rId2"/>
          <a:stretch>
            <a:fillRect/>
          </a:stretch>
        </p:blipFill>
        <p:spPr>
          <a:xfrm>
            <a:off x="731520" y="1371600"/>
            <a:ext cx="5212080" cy="5212080"/>
          </a:xfrm>
          <a:prstGeom prst="rect">
            <a:avLst/>
          </a:prstGeom>
        </p:spPr>
      </p:pic>
      <p:pic>
        <p:nvPicPr>
          <p:cNvPr id="4" name="Picture 3" descr="average_image_per_class.png"/>
          <p:cNvPicPr>
            <a:picLocks noChangeAspect="1"/>
          </p:cNvPicPr>
          <p:nvPr/>
        </p:nvPicPr>
        <p:blipFill>
          <a:blip r:embed="rId3"/>
          <a:stretch>
            <a:fillRect/>
          </a:stretch>
        </p:blipFill>
        <p:spPr>
          <a:xfrm>
            <a:off x="6217920" y="1371600"/>
            <a:ext cx="5212080" cy="2388870"/>
          </a:xfrm>
          <a:prstGeom prst="rect">
            <a:avLst/>
          </a:prstGeom>
        </p:spPr>
      </p:pic>
      <p:sp>
        <p:nvSpPr>
          <p:cNvPr id="5" name="Rectangle 4"/>
          <p:cNvSpPr/>
          <p:nvPr/>
        </p:nvSpPr>
        <p:spPr>
          <a:xfrm>
            <a:off x="731520" y="5212080"/>
            <a:ext cx="10698480" cy="10972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03520"/>
            <a:ext cx="10332720" cy="914400"/>
          </a:xfrm>
          <a:prstGeom prst="rect">
            <a:avLst/>
          </a:prstGeom>
          <a:noFill/>
        </p:spPr>
        <p:txBody>
          <a:bodyPr wrap="square">
            <a:spAutoFit/>
          </a:bodyPr>
          <a:lstStyle/>
          <a:p>
            <a:pPr>
              <a:defRPr sz="1000" b="1">
                <a:solidFill>
                  <a:srgbClr val="1DB954"/>
                </a:solidFill>
                <a:latin typeface="Consolas"/>
              </a:defRPr>
            </a:pPr>
            <a:r>
              <a:t>EMPIRICAL EDA FINDINGS (AUDITED ON 70,000 INSTANCES):</a:t>
            </a:r>
          </a:p>
          <a:p>
            <a:pPr>
              <a:defRPr sz="950">
                <a:solidFill>
                  <a:srgbClr val="A1A1AA"/>
                </a:solidFill>
                <a:latin typeface="Segoe UI"/>
              </a:defRPr>
            </a:pPr>
            <a:r>
              <a:t>1. Class Balance: Near-uniform balance across all splits (min digit '5': 8.88%, max digit '1': 11.40%, imbalance ratio &lt; 1.28; 0 missing/corrupt values).</a:t>
            </a:r>
            <a:br/>
            <a:r>
              <a:t>2. Pixel Moments &amp; Sparsity: Highly bimodal; 80.86% pure black background (0.0) and 18.25% active stroke mass (&gt;0.05). Global mean μ=0.13093, σ=0.30845.</a:t>
            </a:r>
            <a:br/>
            <a:r>
              <a:t>3. Topological Invariance: Class centroids demonstrate that stroke mass is tightly concentrated in the central 20x20 canvas with zero-variance boundary margins.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09. PREPROCESSING PIPELINE</a:t>
            </a:r>
          </a:p>
          <a:p>
            <a:pPr>
              <a:defRPr sz="1800" b="1">
                <a:solidFill>
                  <a:srgbClr val="FFFFFF"/>
                </a:solidFill>
                <a:latin typeface="Segoe UI"/>
              </a:defRPr>
            </a:pPr>
            <a:r>
              <a:t>THE 7-STAGE CANONICAL PREPROCESSING INVARIANT</a:t>
            </a:r>
          </a:p>
        </p:txBody>
      </p:sp>
      <p:sp>
        <p:nvSpPr>
          <p:cNvPr id="3" name="Rectangle 2"/>
          <p:cNvSpPr/>
          <p:nvPr/>
        </p:nvSpPr>
        <p:spPr>
          <a:xfrm>
            <a:off x="7315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7-STAGE PIPELINE SEQUENCE</a:t>
            </a:r>
          </a:p>
        </p:txBody>
      </p:sp>
      <p:sp>
        <p:nvSpPr>
          <p:cNvPr id="5" name="TextBox 4"/>
          <p:cNvSpPr txBox="1"/>
          <p:nvPr/>
        </p:nvSpPr>
        <p:spPr>
          <a:xfrm>
            <a:off x="914400" y="1874519"/>
            <a:ext cx="4846320" cy="4114800"/>
          </a:xfrm>
          <a:prstGeom prst="rect">
            <a:avLst/>
          </a:prstGeom>
          <a:noFill/>
        </p:spPr>
        <p:txBody>
          <a:bodyPr wrap="square">
            <a:spAutoFit/>
          </a:bodyPr>
          <a:lstStyle/>
          <a:p>
            <a:pPr>
              <a:defRPr sz="950" b="1">
                <a:solidFill>
                  <a:srgbClr val="1DB954"/>
                </a:solidFill>
                <a:latin typeface="Consolas"/>
              </a:defRPr>
            </a:pPr>
            <a:r>
              <a:t>STAGE 1: GRAYSCALE DECODING</a:t>
            </a:r>
          </a:p>
          <a:p>
            <a:pPr>
              <a:defRPr sz="900">
                <a:solidFill>
                  <a:srgbClr val="A1A1AA"/>
                </a:solidFill>
                <a:latin typeface="Segoe UI"/>
              </a:defRPr>
            </a:pPr>
            <a:r>
              <a:t>Decodes base64 canvas strings / images into single-channel luminance arrays.</a:t>
            </a:r>
          </a:p>
          <a:p>
            <a:pPr>
              <a:defRPr sz="950" b="1">
                <a:solidFill>
                  <a:srgbClr val="1DB954"/>
                </a:solidFill>
                <a:latin typeface="Consolas"/>
              </a:defRPr>
            </a:pPr>
            <a:r>
              <a:t>STAGE 2: BACKGROUND / CONTRAST INVERSION</a:t>
            </a:r>
          </a:p>
          <a:p>
            <a:pPr>
              <a:defRPr sz="900">
                <a:solidFill>
                  <a:srgbClr val="A1A1AA"/>
                </a:solidFill>
                <a:latin typeface="Segoe UI"/>
              </a:defRPr>
            </a:pPr>
            <a:r>
              <a:t>Detects background polarity; inverts light backgrounds to white-on-black standard.</a:t>
            </a:r>
          </a:p>
          <a:p>
            <a:pPr>
              <a:defRPr sz="950" b="1">
                <a:solidFill>
                  <a:srgbClr val="1DB954"/>
                </a:solidFill>
                <a:latin typeface="Consolas"/>
              </a:defRPr>
            </a:pPr>
            <a:r>
              <a:t>STAGE 3: OTSU GLOBAL THRESHOLDING</a:t>
            </a:r>
          </a:p>
          <a:p>
            <a:pPr>
              <a:defRPr sz="900">
                <a:solidFill>
                  <a:srgbClr val="A1A1AA"/>
                </a:solidFill>
                <a:latin typeface="Segoe UI"/>
              </a:defRPr>
            </a:pPr>
            <a:r>
              <a:t>Computes optimal inter-class variance threshold to eliminate anti-aliasing artifacts.</a:t>
            </a:r>
          </a:p>
          <a:p>
            <a:pPr>
              <a:defRPr sz="950" b="1">
                <a:solidFill>
                  <a:srgbClr val="1DB954"/>
                </a:solidFill>
                <a:latin typeface="Consolas"/>
              </a:defRPr>
            </a:pPr>
            <a:r>
              <a:t>STAGE 4: BOUNDING BOX EXTRACTION</a:t>
            </a:r>
          </a:p>
          <a:p>
            <a:pPr>
              <a:defRPr sz="900">
                <a:solidFill>
                  <a:srgbClr val="A1A1AA"/>
                </a:solidFill>
                <a:latin typeface="Segoe UI"/>
              </a:defRPr>
            </a:pPr>
            <a:r>
              <a:t>Crops tightest rectangle enclosing all active foreground digit strokes.</a:t>
            </a:r>
          </a:p>
          <a:p>
            <a:pPr>
              <a:defRPr sz="950" b="1">
                <a:solidFill>
                  <a:srgbClr val="1DB954"/>
                </a:solidFill>
                <a:latin typeface="Consolas"/>
              </a:defRPr>
            </a:pPr>
            <a:r>
              <a:t>STAGE 5: ASPECT-PRESERVING 20X20 FIT</a:t>
            </a:r>
          </a:p>
          <a:p>
            <a:pPr>
              <a:defRPr sz="900">
                <a:solidFill>
                  <a:srgbClr val="A1A1AA"/>
                </a:solidFill>
                <a:latin typeface="Segoe UI"/>
              </a:defRPr>
            </a:pPr>
            <a:r>
              <a:t>Scales the longer bounding box dimension to 20px while preserving stroke aspect ratio.</a:t>
            </a:r>
          </a:p>
          <a:p>
            <a:pPr>
              <a:defRPr sz="950" b="1">
                <a:solidFill>
                  <a:srgbClr val="1DB954"/>
                </a:solidFill>
                <a:latin typeface="Consolas"/>
              </a:defRPr>
            </a:pPr>
            <a:r>
              <a:t>STAGE 6: CENTER-OF-MASS CENTERING</a:t>
            </a:r>
          </a:p>
          <a:p>
            <a:pPr>
              <a:defRPr sz="900">
                <a:solidFill>
                  <a:srgbClr val="A1A1AA"/>
                </a:solidFill>
                <a:latin typeface="Segoe UI"/>
              </a:defRPr>
            </a:pPr>
            <a:r>
              <a:t>Calculates image moments (M00, M10, M01) and translates the centroid to (13.5, 13.5).</a:t>
            </a:r>
          </a:p>
          <a:p>
            <a:pPr>
              <a:defRPr sz="950" b="1">
                <a:solidFill>
                  <a:srgbClr val="1DB954"/>
                </a:solidFill>
                <a:latin typeface="Consolas"/>
              </a:defRPr>
            </a:pPr>
            <a:r>
              <a:t>STAGE 7: FLOAT32 TENSOR OUTPUT</a:t>
            </a:r>
          </a:p>
          <a:p>
            <a:pPr>
              <a:defRPr sz="900">
                <a:solidFill>
                  <a:srgbClr val="A1A1AA"/>
                </a:solidFill>
                <a:latin typeface="Segoe UI"/>
              </a:defRPr>
            </a:pPr>
            <a:r>
              <a:t>Places digit on 28x28 canvas, normalizes to [0.0, 1.0], and emits (1, 28, 28, 1) float32 tensor.</a:t>
            </a:r>
          </a:p>
        </p:txBody>
      </p:sp>
      <p:sp>
        <p:nvSpPr>
          <p:cNvPr id="6" name="Rectangle 5"/>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MATHEMATICAL CENTROID INVARIANT &amp; EDGE CASES</a:t>
            </a:r>
          </a:p>
        </p:txBody>
      </p:sp>
      <p:sp>
        <p:nvSpPr>
          <p:cNvPr id="8" name="TextBox 7"/>
          <p:cNvSpPr txBox="1"/>
          <p:nvPr/>
        </p:nvSpPr>
        <p:spPr>
          <a:xfrm>
            <a:off x="6400800" y="1874519"/>
            <a:ext cx="4846320" cy="4114800"/>
          </a:xfrm>
          <a:prstGeom prst="rect">
            <a:avLst/>
          </a:prstGeom>
          <a:noFill/>
        </p:spPr>
        <p:txBody>
          <a:bodyPr wrap="square">
            <a:spAutoFit/>
          </a:bodyPr>
          <a:lstStyle/>
          <a:p>
            <a:pPr>
              <a:defRPr sz="1000">
                <a:solidFill>
                  <a:srgbClr val="A1A1AA"/>
                </a:solidFill>
                <a:latin typeface="Segoe UI"/>
              </a:defRPr>
            </a:pPr>
            <a:r>
              <a:t>•  Spatial Moment Formulas: Center of mass computed as x_c = M10 / M00 and y_c = M01 / M00, where M_pq = sum(x^p * y^q * I(x, y)).</a:t>
            </a:r>
          </a:p>
          <a:p>
            <a:pPr>
              <a:defRPr sz="1000">
                <a:solidFill>
                  <a:srgbClr val="A1A1AA"/>
                </a:solidFill>
                <a:latin typeface="Segoe UI"/>
              </a:defRPr>
            </a:pPr>
            <a:r>
              <a:t>•  Translation Offset: Delta_x = 13.5 - x_c, Delta_y = 13.5 - y_c applied via sub-pixel affine transformation.</a:t>
            </a:r>
          </a:p>
          <a:p>
            <a:pPr>
              <a:defRPr sz="1000">
                <a:solidFill>
                  <a:srgbClr val="A1A1AA"/>
                </a:solidFill>
                <a:latin typeface="Segoe UI"/>
              </a:defRPr>
            </a:pPr>
            <a:r>
              <a:t>•  Edge-Case Hardening: Empty canvas detection (&lt;18 active pixels) returns blank warning without invoking inference.</a:t>
            </a:r>
          </a:p>
          <a:p>
            <a:pPr>
              <a:defRPr sz="1000">
                <a:solidFill>
                  <a:srgbClr val="A1A1AA"/>
                </a:solidFill>
                <a:latin typeface="Segoe UI"/>
              </a:defRPr>
            </a:pPr>
            <a:r>
              <a:t>•  Speckle Noise Rejection: Single-pixel noise clusters filtered out during connected-component analysis.</a:t>
            </a:r>
          </a:p>
          <a:p>
            <a:pPr>
              <a:defRPr sz="1000">
                <a:solidFill>
                  <a:srgbClr val="A1A1AA"/>
                </a:solidFill>
                <a:latin typeface="Segoe UI"/>
              </a:defRPr>
            </a:pPr>
            <a:r>
              <a:t>•  Unit Test Verification: 33 dedicated pytest unit tests in tests/test_preprocessing.py confirm mathematical invariant stability.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10. LITERATURE / RESEARCH GAP</a:t>
            </a:r>
          </a:p>
          <a:p>
            <a:pPr>
              <a:defRPr sz="1800" b="1">
                <a:solidFill>
                  <a:srgbClr val="FFFFFF"/>
                </a:solidFill>
                <a:latin typeface="Segoe UI"/>
              </a:defRPr>
            </a:pPr>
            <a:r>
              <a:t>LITERATURE COMPARISON &amp; IDENTIFIED RESEARCH GAPS</a:t>
            </a:r>
          </a:p>
        </p:txBody>
      </p:sp>
      <p:sp>
        <p:nvSpPr>
          <p:cNvPr id="3" name="Rectangle 2"/>
          <p:cNvSpPr/>
          <p:nvPr/>
        </p:nvSpPr>
        <p:spPr>
          <a:xfrm>
            <a:off x="73152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HISTORICAL &amp; CLASSICAL VISION</a:t>
            </a:r>
          </a:p>
        </p:txBody>
      </p:sp>
      <p:sp>
        <p:nvSpPr>
          <p:cNvPr id="5" name="TextBox 4"/>
          <p:cNvSpPr txBox="1"/>
          <p:nvPr/>
        </p:nvSpPr>
        <p:spPr>
          <a:xfrm>
            <a:off x="914400" y="1920240"/>
            <a:ext cx="2926080" cy="4023360"/>
          </a:xfrm>
          <a:prstGeom prst="rect">
            <a:avLst/>
          </a:prstGeom>
          <a:noFill/>
        </p:spPr>
        <p:txBody>
          <a:bodyPr wrap="square">
            <a:spAutoFit/>
          </a:bodyPr>
          <a:lstStyle/>
          <a:p>
            <a:pPr>
              <a:defRPr sz="1050">
                <a:solidFill>
                  <a:srgbClr val="A1A1AA"/>
                </a:solidFill>
                <a:latin typeface="Segoe UI"/>
              </a:defRPr>
            </a:pPr>
            <a:r>
              <a:t>•  LeCun et al. [1] (1998): Pioneered LeNet-5 CNN on MNIST, demonstrating backpropagation gradient descent (99.05% on 60k).</a:t>
            </a:r>
          </a:p>
          <a:p/>
          <a:p>
            <a:pPr>
              <a:defRPr sz="1050">
                <a:solidFill>
                  <a:srgbClr val="A1A1AA"/>
                </a:solidFill>
                <a:latin typeface="Segoe UI"/>
              </a:defRPr>
            </a:pPr>
            <a:r>
              <a:t>•  Cireșan et al. [2] (2012): Multi-Column Deep Neural Networks achieved near-human 99.77% accuracy with heavy elastic distortions.</a:t>
            </a:r>
          </a:p>
          <a:p/>
          <a:p>
            <a:pPr>
              <a:defRPr sz="1050">
                <a:solidFill>
                  <a:srgbClr val="A1A1AA"/>
                </a:solidFill>
                <a:latin typeface="Segoe UI"/>
              </a:defRPr>
            </a:pPr>
            <a:r>
              <a:t>•  Research Gap: Both works treated classification as a closed-world pure accuracy benchmark, providing zero confidence calibration or visual explainability.</a:t>
            </a:r>
          </a:p>
        </p:txBody>
      </p:sp>
      <p:sp>
        <p:nvSpPr>
          <p:cNvPr id="6" name="Rectangle 5"/>
          <p:cNvSpPr/>
          <p:nvPr/>
        </p:nvSpPr>
        <p:spPr>
          <a:xfrm>
            <a:off x="434340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CALIBRATION &amp; EXPLAINABILITY</a:t>
            </a:r>
          </a:p>
        </p:txBody>
      </p:sp>
      <p:sp>
        <p:nvSpPr>
          <p:cNvPr id="8" name="TextBox 7"/>
          <p:cNvSpPr txBox="1"/>
          <p:nvPr/>
        </p:nvSpPr>
        <p:spPr>
          <a:xfrm>
            <a:off x="4526280" y="1920240"/>
            <a:ext cx="2926080" cy="4023360"/>
          </a:xfrm>
          <a:prstGeom prst="rect">
            <a:avLst/>
          </a:prstGeom>
          <a:noFill/>
        </p:spPr>
        <p:txBody>
          <a:bodyPr wrap="square">
            <a:spAutoFit/>
          </a:bodyPr>
          <a:lstStyle/>
          <a:p>
            <a:pPr>
              <a:defRPr sz="1050">
                <a:solidFill>
                  <a:srgbClr val="A1A1AA"/>
                </a:solidFill>
                <a:latin typeface="Segoe UI"/>
              </a:defRPr>
            </a:pPr>
            <a:r>
              <a:t>•  Guo et al. [5] (2017): Identified that modern deep networks are severely miscalibrated; proposed post-hoc temperature scaling to minimize ECE.</a:t>
            </a:r>
          </a:p>
          <a:p/>
          <a:p>
            <a:pPr>
              <a:defRPr sz="1050">
                <a:solidFill>
                  <a:srgbClr val="A1A1AA"/>
                </a:solidFill>
                <a:latin typeface="Segoe UI"/>
              </a:defRPr>
            </a:pPr>
            <a:r>
              <a:t>•  Selvaraju et al. [6] (2017): Introduced Grad-CAM for gradient-based class activation heatmaps in large convolutional networks.</a:t>
            </a:r>
          </a:p>
          <a:p/>
          <a:p>
            <a:pPr>
              <a:defRPr sz="1050">
                <a:solidFill>
                  <a:srgbClr val="A1A1AA"/>
                </a:solidFill>
                <a:latin typeface="Segoe UI"/>
              </a:defRPr>
            </a:pPr>
            <a:r>
              <a:t>•  Research Gap: Calibration and XAI techniques are rarely integrated into accessible micro-project architectures or connected to live drawing canvases.</a:t>
            </a:r>
          </a:p>
        </p:txBody>
      </p:sp>
      <p:sp>
        <p:nvSpPr>
          <p:cNvPr id="9" name="Rectangle 8"/>
          <p:cNvSpPr/>
          <p:nvPr/>
        </p:nvSpPr>
        <p:spPr>
          <a:xfrm>
            <a:off x="795528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DIGITVISION AI CONTRIBUTION</a:t>
            </a:r>
          </a:p>
        </p:txBody>
      </p:sp>
      <p:sp>
        <p:nvSpPr>
          <p:cNvPr id="11" name="TextBox 10"/>
          <p:cNvSpPr txBox="1"/>
          <p:nvPr/>
        </p:nvSpPr>
        <p:spPr>
          <a:xfrm>
            <a:off x="8138160" y="1920240"/>
            <a:ext cx="2926080" cy="4023360"/>
          </a:xfrm>
          <a:prstGeom prst="rect">
            <a:avLst/>
          </a:prstGeom>
          <a:noFill/>
        </p:spPr>
        <p:txBody>
          <a:bodyPr wrap="square">
            <a:spAutoFit/>
          </a:bodyPr>
          <a:lstStyle/>
          <a:p>
            <a:pPr>
              <a:defRPr sz="1050">
                <a:solidFill>
                  <a:srgbClr val="A1A1AA"/>
                </a:solidFill>
                <a:latin typeface="Segoe UI"/>
              </a:defRPr>
            </a:pPr>
            <a:r>
              <a:t>•  Unified Architectural Synthesis: Integrates LeNet-inspired convolution with modern dual-block design, Grad-CAM, and temperature scaling.</a:t>
            </a:r>
          </a:p>
          <a:p/>
          <a:p>
            <a:pPr>
              <a:defRPr sz="1050">
                <a:solidFill>
                  <a:srgbClr val="A1A1AA"/>
                </a:solidFill>
                <a:latin typeface="Segoe UI"/>
              </a:defRPr>
            </a:pPr>
            <a:r>
              <a:t>•  Live Invariant Protection: Eliminates train-inference skew via authoritative canonical preprocessing.</a:t>
            </a:r>
          </a:p>
          <a:p/>
          <a:p>
            <a:pPr>
              <a:defRPr sz="1050">
                <a:solidFill>
                  <a:srgbClr val="A1A1AA"/>
                </a:solidFill>
                <a:latin typeface="Segoe UI"/>
              </a:defRPr>
            </a:pPr>
            <a:r>
              <a:t>•  Production Transparency: Implements Shannon entropy diagnostics, telemetry HUD, and 100% zero-fabrication empirical testing.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11. MODEL LANDSCAPE</a:t>
            </a:r>
          </a:p>
          <a:p>
            <a:pPr>
              <a:defRPr sz="1800" b="1">
                <a:solidFill>
                  <a:srgbClr val="FFFFFF"/>
                </a:solidFill>
                <a:latin typeface="Segoe UI"/>
              </a:defRPr>
            </a:pPr>
            <a:r>
              <a:t>MULTI-MODEL EMPIRICAL LANDSCAPE (7 PARADIGMS)</a:t>
            </a:r>
          </a:p>
        </p:txBody>
      </p:sp>
      <p:sp>
        <p:nvSpPr>
          <p:cNvPr id="3" name="Rectangle 2"/>
          <p:cNvSpPr/>
          <p:nvPr/>
        </p:nvSpPr>
        <p:spPr>
          <a:xfrm>
            <a:off x="731520" y="1325880"/>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39"/>
            <a:ext cx="10332719" cy="320040"/>
          </a:xfrm>
          <a:prstGeom prst="rect">
            <a:avLst/>
          </a:prstGeom>
          <a:noFill/>
        </p:spPr>
        <p:txBody>
          <a:bodyPr wrap="square" lIns="0" tIns="0" rIns="0" bIns="0">
            <a:spAutoFit/>
          </a:bodyPr>
          <a:lstStyle/>
          <a:p>
            <a:pPr>
              <a:defRPr sz="1000" b="1">
                <a:solidFill>
                  <a:srgbClr val="A1A1AA"/>
                </a:solidFill>
                <a:latin typeface="Consolas"/>
              </a:defRPr>
            </a:pPr>
            <a:r>
              <a:t>1. ZERO-RULE DUMMY BASELINE</a:t>
            </a:r>
          </a:p>
        </p:txBody>
      </p:sp>
      <p:sp>
        <p:nvSpPr>
          <p:cNvPr id="5" name="TextBox 4"/>
          <p:cNvSpPr txBox="1"/>
          <p:nvPr/>
        </p:nvSpPr>
        <p:spPr>
          <a:xfrm>
            <a:off x="914400" y="1581912"/>
            <a:ext cx="10332720" cy="320040"/>
          </a:xfrm>
          <a:prstGeom prst="rect">
            <a:avLst/>
          </a:prstGeom>
          <a:noFill/>
        </p:spPr>
        <p:txBody>
          <a:bodyPr wrap="square">
            <a:spAutoFit/>
          </a:bodyPr>
          <a:lstStyle/>
          <a:p>
            <a:pPr>
              <a:defRPr sz="1000">
                <a:solidFill>
                  <a:srgbClr val="A1A1AA"/>
                </a:solidFill>
                <a:latin typeface="Segoe UI"/>
              </a:defRPr>
            </a:pPr>
            <a:r>
              <a:t>Non-parametric majority-class rule. Achieved 11.35% accuracy, establishing the mathematical chance baseline.</a:t>
            </a:r>
          </a:p>
        </p:txBody>
      </p:sp>
      <p:sp>
        <p:nvSpPr>
          <p:cNvPr id="6" name="Rectangle 5"/>
          <p:cNvSpPr/>
          <p:nvPr/>
        </p:nvSpPr>
        <p:spPr>
          <a:xfrm>
            <a:off x="731520" y="2029967"/>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67127"/>
            <a:ext cx="10332719" cy="320040"/>
          </a:xfrm>
          <a:prstGeom prst="rect">
            <a:avLst/>
          </a:prstGeom>
          <a:noFill/>
        </p:spPr>
        <p:txBody>
          <a:bodyPr wrap="square" lIns="0" tIns="0" rIns="0" bIns="0">
            <a:spAutoFit/>
          </a:bodyPr>
          <a:lstStyle/>
          <a:p>
            <a:pPr>
              <a:defRPr sz="1000" b="1">
                <a:solidFill>
                  <a:srgbClr val="A1A1AA"/>
                </a:solidFill>
                <a:latin typeface="Consolas"/>
              </a:defRPr>
            </a:pPr>
            <a:r>
              <a:t>2. MULTINOMIAL LOGISTIC REGRESSION</a:t>
            </a:r>
          </a:p>
        </p:txBody>
      </p:sp>
      <p:sp>
        <p:nvSpPr>
          <p:cNvPr id="8" name="TextBox 7"/>
          <p:cNvSpPr txBox="1"/>
          <p:nvPr/>
        </p:nvSpPr>
        <p:spPr>
          <a:xfrm>
            <a:off x="914400" y="2286000"/>
            <a:ext cx="10332720" cy="320040"/>
          </a:xfrm>
          <a:prstGeom prst="rect">
            <a:avLst/>
          </a:prstGeom>
          <a:noFill/>
        </p:spPr>
        <p:txBody>
          <a:bodyPr wrap="square">
            <a:spAutoFit/>
          </a:bodyPr>
          <a:lstStyle/>
          <a:p>
            <a:pPr>
              <a:defRPr sz="1000">
                <a:solidFill>
                  <a:srgbClr val="A1A1AA"/>
                </a:solidFill>
                <a:latin typeface="Segoe UI"/>
              </a:defRPr>
            </a:pPr>
            <a:r>
              <a:t>Generalized linear model with L-BFGS solver. 91.49% accuracy, delineating the linear separability threshold.</a:t>
            </a:r>
          </a:p>
        </p:txBody>
      </p:sp>
      <p:sp>
        <p:nvSpPr>
          <p:cNvPr id="9" name="Rectangle 8"/>
          <p:cNvSpPr/>
          <p:nvPr/>
        </p:nvSpPr>
        <p:spPr>
          <a:xfrm>
            <a:off x="731520" y="2734056"/>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71216"/>
            <a:ext cx="10332719" cy="320040"/>
          </a:xfrm>
          <a:prstGeom prst="rect">
            <a:avLst/>
          </a:prstGeom>
          <a:noFill/>
        </p:spPr>
        <p:txBody>
          <a:bodyPr wrap="square" lIns="0" tIns="0" rIns="0" bIns="0">
            <a:spAutoFit/>
          </a:bodyPr>
          <a:lstStyle/>
          <a:p>
            <a:pPr>
              <a:defRPr sz="1000" b="1">
                <a:solidFill>
                  <a:srgbClr val="A1A1AA"/>
                </a:solidFill>
                <a:latin typeface="Consolas"/>
              </a:defRPr>
            </a:pPr>
            <a:r>
              <a:t>3. RANDOM FOREST (60 TREES)</a:t>
            </a:r>
          </a:p>
        </p:txBody>
      </p:sp>
      <p:sp>
        <p:nvSpPr>
          <p:cNvPr id="11" name="TextBox 10"/>
          <p:cNvSpPr txBox="1"/>
          <p:nvPr/>
        </p:nvSpPr>
        <p:spPr>
          <a:xfrm>
            <a:off x="914400" y="2990088"/>
            <a:ext cx="10332720" cy="320040"/>
          </a:xfrm>
          <a:prstGeom prst="rect">
            <a:avLst/>
          </a:prstGeom>
          <a:noFill/>
        </p:spPr>
        <p:txBody>
          <a:bodyPr wrap="square">
            <a:spAutoFit/>
          </a:bodyPr>
          <a:lstStyle/>
          <a:p>
            <a:pPr>
              <a:defRPr sz="1000">
                <a:solidFill>
                  <a:srgbClr val="A1A1AA"/>
                </a:solidFill>
                <a:latin typeface="Segoe UI"/>
              </a:defRPr>
            </a:pPr>
            <a:r>
              <a:t>Non-parametric bagging ensemble of greedy decision trees. 95.48% accuracy, evaluating non-linear feature splits.</a:t>
            </a:r>
          </a:p>
        </p:txBody>
      </p:sp>
      <p:sp>
        <p:nvSpPr>
          <p:cNvPr id="12" name="Rectangle 11"/>
          <p:cNvSpPr/>
          <p:nvPr/>
        </p:nvSpPr>
        <p:spPr>
          <a:xfrm>
            <a:off x="731520" y="3438144"/>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75303"/>
            <a:ext cx="10332719" cy="320040"/>
          </a:xfrm>
          <a:prstGeom prst="rect">
            <a:avLst/>
          </a:prstGeom>
          <a:noFill/>
        </p:spPr>
        <p:txBody>
          <a:bodyPr wrap="square" lIns="0" tIns="0" rIns="0" bIns="0">
            <a:spAutoFit/>
          </a:bodyPr>
          <a:lstStyle/>
          <a:p>
            <a:pPr>
              <a:defRPr sz="1000" b="1">
                <a:solidFill>
                  <a:srgbClr val="A1A1AA"/>
                </a:solidFill>
                <a:latin typeface="Consolas"/>
              </a:defRPr>
            </a:pPr>
            <a:r>
              <a:t>4. SUPPORT VECTOR MACHINE (RBF)</a:t>
            </a:r>
          </a:p>
        </p:txBody>
      </p:sp>
      <p:sp>
        <p:nvSpPr>
          <p:cNvPr id="14" name="TextBox 13"/>
          <p:cNvSpPr txBox="1"/>
          <p:nvPr/>
        </p:nvSpPr>
        <p:spPr>
          <a:xfrm>
            <a:off x="914400" y="3694176"/>
            <a:ext cx="10332720" cy="320040"/>
          </a:xfrm>
          <a:prstGeom prst="rect">
            <a:avLst/>
          </a:prstGeom>
          <a:noFill/>
        </p:spPr>
        <p:txBody>
          <a:bodyPr wrap="square">
            <a:spAutoFit/>
          </a:bodyPr>
          <a:lstStyle/>
          <a:p>
            <a:pPr>
              <a:defRPr sz="1000">
                <a:solidFill>
                  <a:srgbClr val="A1A1AA"/>
                </a:solidFill>
                <a:latin typeface="Segoe UI"/>
              </a:defRPr>
            </a:pPr>
            <a:r>
              <a:t>Maximum-margin hyperplane with radial basis kernel. 96.11% accuracy, strong non-linear dual formulation benchmark.</a:t>
            </a:r>
          </a:p>
        </p:txBody>
      </p:sp>
      <p:sp>
        <p:nvSpPr>
          <p:cNvPr id="15" name="Rectangle 14"/>
          <p:cNvSpPr/>
          <p:nvPr/>
        </p:nvSpPr>
        <p:spPr>
          <a:xfrm>
            <a:off x="731520" y="4142232"/>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79392"/>
            <a:ext cx="10332719" cy="320040"/>
          </a:xfrm>
          <a:prstGeom prst="rect">
            <a:avLst/>
          </a:prstGeom>
          <a:noFill/>
        </p:spPr>
        <p:txBody>
          <a:bodyPr wrap="square" lIns="0" tIns="0" rIns="0" bIns="0">
            <a:spAutoFit/>
          </a:bodyPr>
          <a:lstStyle/>
          <a:p>
            <a:pPr>
              <a:defRPr sz="1000" b="1">
                <a:solidFill>
                  <a:srgbClr val="A1A1AA"/>
                </a:solidFill>
                <a:latin typeface="Consolas"/>
              </a:defRPr>
            </a:pPr>
            <a:r>
              <a:t>5. DEEP MLP (256-128 DENSE)</a:t>
            </a:r>
          </a:p>
        </p:txBody>
      </p:sp>
      <p:sp>
        <p:nvSpPr>
          <p:cNvPr id="17" name="TextBox 16"/>
          <p:cNvSpPr txBox="1"/>
          <p:nvPr/>
        </p:nvSpPr>
        <p:spPr>
          <a:xfrm>
            <a:off x="914400" y="4398264"/>
            <a:ext cx="10332720" cy="320040"/>
          </a:xfrm>
          <a:prstGeom prst="rect">
            <a:avLst/>
          </a:prstGeom>
          <a:noFill/>
        </p:spPr>
        <p:txBody>
          <a:bodyPr wrap="square">
            <a:spAutoFit/>
          </a:bodyPr>
          <a:lstStyle/>
          <a:p>
            <a:pPr>
              <a:defRPr sz="1000">
                <a:solidFill>
                  <a:srgbClr val="A1A1AA"/>
                </a:solidFill>
                <a:latin typeface="Segoe UI"/>
              </a:defRPr>
            </a:pPr>
            <a:r>
              <a:t>Fully-connected feedforward network with dense dropout. 95.91% accuracy, assessing non-spatial neural depth.</a:t>
            </a:r>
          </a:p>
        </p:txBody>
      </p:sp>
      <p:sp>
        <p:nvSpPr>
          <p:cNvPr id="18" name="Rectangle 17"/>
          <p:cNvSpPr/>
          <p:nvPr/>
        </p:nvSpPr>
        <p:spPr>
          <a:xfrm>
            <a:off x="731520" y="4846320"/>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83480"/>
            <a:ext cx="10332719" cy="320040"/>
          </a:xfrm>
          <a:prstGeom prst="rect">
            <a:avLst/>
          </a:prstGeom>
          <a:noFill/>
        </p:spPr>
        <p:txBody>
          <a:bodyPr wrap="square" lIns="0" tIns="0" rIns="0" bIns="0">
            <a:spAutoFit/>
          </a:bodyPr>
          <a:lstStyle/>
          <a:p>
            <a:pPr>
              <a:defRPr sz="1000" b="1">
                <a:solidFill>
                  <a:srgbClr val="A1A1AA"/>
                </a:solidFill>
                <a:latin typeface="Consolas"/>
              </a:defRPr>
            </a:pPr>
            <a:r>
              <a:t>6. CLASSIC LENET-5 (1998)</a:t>
            </a:r>
          </a:p>
        </p:txBody>
      </p:sp>
      <p:sp>
        <p:nvSpPr>
          <p:cNvPr id="20" name="TextBox 19"/>
          <p:cNvSpPr txBox="1"/>
          <p:nvPr/>
        </p:nvSpPr>
        <p:spPr>
          <a:xfrm>
            <a:off x="914400" y="5102352"/>
            <a:ext cx="10332720" cy="320040"/>
          </a:xfrm>
          <a:prstGeom prst="rect">
            <a:avLst/>
          </a:prstGeom>
          <a:noFill/>
        </p:spPr>
        <p:txBody>
          <a:bodyPr wrap="square">
            <a:spAutoFit/>
          </a:bodyPr>
          <a:lstStyle/>
          <a:p>
            <a:pPr>
              <a:defRPr sz="1000">
                <a:solidFill>
                  <a:srgbClr val="A1A1AA"/>
                </a:solidFill>
                <a:latin typeface="Segoe UI"/>
              </a:defRPr>
            </a:pPr>
            <a:r>
              <a:t>Historic 5x5 convolutional architecture with average pooling. 96.25% accuracy, verifying translation-invariant spatial filters.</a:t>
            </a:r>
          </a:p>
        </p:txBody>
      </p:sp>
      <p:sp>
        <p:nvSpPr>
          <p:cNvPr id="21" name="Rectangle 20"/>
          <p:cNvSpPr/>
          <p:nvPr/>
        </p:nvSpPr>
        <p:spPr>
          <a:xfrm>
            <a:off x="731520" y="5550408"/>
            <a:ext cx="10698480" cy="59436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687568"/>
            <a:ext cx="10332719" cy="320040"/>
          </a:xfrm>
          <a:prstGeom prst="rect">
            <a:avLst/>
          </a:prstGeom>
          <a:noFill/>
        </p:spPr>
        <p:txBody>
          <a:bodyPr wrap="square" lIns="0" tIns="0" rIns="0" bIns="0">
            <a:spAutoFit/>
          </a:bodyPr>
          <a:lstStyle/>
          <a:p>
            <a:pPr>
              <a:defRPr sz="1000" b="1">
                <a:solidFill>
                  <a:srgbClr val="A1A1AA"/>
                </a:solidFill>
                <a:latin typeface="Consolas"/>
              </a:defRPr>
            </a:pPr>
            <a:r>
              <a:t>7. DIGITVISION DEEPCONVNET (OURS)</a:t>
            </a:r>
          </a:p>
        </p:txBody>
      </p:sp>
      <p:sp>
        <p:nvSpPr>
          <p:cNvPr id="23" name="TextBox 22"/>
          <p:cNvSpPr txBox="1"/>
          <p:nvPr/>
        </p:nvSpPr>
        <p:spPr>
          <a:xfrm>
            <a:off x="914400" y="5806440"/>
            <a:ext cx="10332720" cy="320040"/>
          </a:xfrm>
          <a:prstGeom prst="rect">
            <a:avLst/>
          </a:prstGeom>
          <a:noFill/>
        </p:spPr>
        <p:txBody>
          <a:bodyPr wrap="square">
            <a:spAutoFit/>
          </a:bodyPr>
          <a:lstStyle/>
          <a:p>
            <a:pPr>
              <a:defRPr sz="1000">
                <a:solidFill>
                  <a:srgbClr val="A1A1AA"/>
                </a:solidFill>
                <a:latin typeface="Segoe UI"/>
              </a:defRPr>
            </a:pPr>
            <a:r>
              <a:t>Dual-block 3x3 ConvNet with Grad-CAM and Spatial Dropout. 98.31% accuracy, selected as the production champion.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12. CNN ARCHITECTURE</a:t>
            </a:r>
          </a:p>
          <a:p>
            <a:pPr>
              <a:defRPr sz="1800" b="1">
                <a:solidFill>
                  <a:srgbClr val="FFFFFF"/>
                </a:solidFill>
                <a:latin typeface="Segoe UI"/>
              </a:defRPr>
            </a:pPr>
            <a:r>
              <a:t>DIGITVISION DEEPCONVNET TOPOLOGY &amp; TENSOR FLOW</a:t>
            </a:r>
          </a:p>
        </p:txBody>
      </p:sp>
      <p:sp>
        <p:nvSpPr>
          <p:cNvPr id="3" name="Rectangle 2"/>
          <p:cNvSpPr/>
          <p:nvPr/>
        </p:nvSpPr>
        <p:spPr>
          <a:xfrm>
            <a:off x="7315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LAYER-BY-LAYER SPECIFICATIONS</a:t>
            </a:r>
          </a:p>
        </p:txBody>
      </p:sp>
      <p:sp>
        <p:nvSpPr>
          <p:cNvPr id="5" name="TextBox 4"/>
          <p:cNvSpPr txBox="1"/>
          <p:nvPr/>
        </p:nvSpPr>
        <p:spPr>
          <a:xfrm>
            <a:off x="914400" y="1874519"/>
            <a:ext cx="4846320" cy="4114800"/>
          </a:xfrm>
          <a:prstGeom prst="rect">
            <a:avLst/>
          </a:prstGeom>
          <a:noFill/>
        </p:spPr>
        <p:txBody>
          <a:bodyPr wrap="square">
            <a:spAutoFit/>
          </a:bodyPr>
          <a:lstStyle/>
          <a:p>
            <a:pPr>
              <a:defRPr sz="950" b="1">
                <a:solidFill>
                  <a:srgbClr val="1DB954"/>
                </a:solidFill>
                <a:latin typeface="Consolas"/>
              </a:defRPr>
            </a:pPr>
            <a:r>
              <a:t>INPUT CANVAS  [(None, 28, 28, 1) | 0 params]</a:t>
            </a:r>
          </a:p>
          <a:p>
            <a:pPr>
              <a:defRPr sz="900">
                <a:solidFill>
                  <a:srgbClr val="A1A1AA"/>
                </a:solidFill>
                <a:latin typeface="Segoe UI"/>
              </a:defRPr>
            </a:pPr>
            <a:r>
              <a:t>Normalized float32 canvas tensor.</a:t>
            </a:r>
          </a:p>
          <a:p>
            <a:pPr>
              <a:defRPr sz="950" b="1">
                <a:solidFill>
                  <a:srgbClr val="1DB954"/>
                </a:solidFill>
                <a:latin typeface="Consolas"/>
              </a:defRPr>
            </a:pPr>
            <a:r>
              <a:t>CONV BLOCK 1  [(None, 28, 28, 32) | 9,568 params]</a:t>
            </a:r>
          </a:p>
          <a:p>
            <a:pPr>
              <a:defRPr sz="900">
                <a:solidFill>
                  <a:srgbClr val="A1A1AA"/>
                </a:solidFill>
                <a:latin typeface="Segoe UI"/>
              </a:defRPr>
            </a:pPr>
            <a:r>
              <a:t>2x Conv2D(32, 3x3, ReLU) extracting low-level edge primitives.</a:t>
            </a:r>
          </a:p>
          <a:p>
            <a:pPr>
              <a:defRPr sz="950" b="1">
                <a:solidFill>
                  <a:srgbClr val="1DB954"/>
                </a:solidFill>
                <a:latin typeface="Consolas"/>
              </a:defRPr>
            </a:pPr>
            <a:r>
              <a:t>POOL + DROP 1  [(None, 14, 14, 32) | 0 params]</a:t>
            </a:r>
          </a:p>
          <a:p>
            <a:pPr>
              <a:defRPr sz="900">
                <a:solidFill>
                  <a:srgbClr val="A1A1AA"/>
                </a:solidFill>
                <a:latin typeface="Segoe UI"/>
              </a:defRPr>
            </a:pPr>
            <a:r>
              <a:t>MaxPool2D(2x2) + Spatial Dropout (p = 0.25).</a:t>
            </a:r>
          </a:p>
          <a:p>
            <a:pPr>
              <a:defRPr sz="950" b="1">
                <a:solidFill>
                  <a:srgbClr val="1DB954"/>
                </a:solidFill>
                <a:latin typeface="Consolas"/>
              </a:defRPr>
            </a:pPr>
            <a:r>
              <a:t>CONV BLOCK 2  [(None, 14, 14, 64) | 55,424 params]</a:t>
            </a:r>
          </a:p>
          <a:p>
            <a:pPr>
              <a:defRPr sz="900">
                <a:solidFill>
                  <a:srgbClr val="A1A1AA"/>
                </a:solidFill>
                <a:latin typeface="Segoe UI"/>
              </a:defRPr>
            </a:pPr>
            <a:r>
              <a:t>2x Conv2D(64, 3x3, ReLU) with 'conv_cam' target hook.</a:t>
            </a:r>
          </a:p>
          <a:p>
            <a:pPr>
              <a:defRPr sz="950" b="1">
                <a:solidFill>
                  <a:srgbClr val="1DB954"/>
                </a:solidFill>
                <a:latin typeface="Consolas"/>
              </a:defRPr>
            </a:pPr>
            <a:r>
              <a:t>POOL + DROP 2  [(None, 7, 7, 64) | 0 params]</a:t>
            </a:r>
          </a:p>
          <a:p>
            <a:pPr>
              <a:defRPr sz="900">
                <a:solidFill>
                  <a:srgbClr val="A1A1AA"/>
                </a:solidFill>
                <a:latin typeface="Segoe UI"/>
              </a:defRPr>
            </a:pPr>
            <a:r>
              <a:t>MaxPool2D(2x2) + Spatial Dropout (p = 0.25).</a:t>
            </a:r>
          </a:p>
          <a:p>
            <a:pPr>
              <a:defRPr sz="950" b="1">
                <a:solidFill>
                  <a:srgbClr val="1DB954"/>
                </a:solidFill>
                <a:latin typeface="Consolas"/>
              </a:defRPr>
            </a:pPr>
            <a:r>
              <a:t>DENSE CLASSIFIER  [(None, 128) | 401,536 params]</a:t>
            </a:r>
          </a:p>
          <a:p>
            <a:pPr>
              <a:defRPr sz="900">
                <a:solidFill>
                  <a:srgbClr val="A1A1AA"/>
                </a:solidFill>
                <a:latin typeface="Segoe UI"/>
              </a:defRPr>
            </a:pPr>
            <a:r>
              <a:t>Flatten (3,136) -&gt; Dense(128, ReLU) -&gt; Dropout (p = 0.40).</a:t>
            </a:r>
          </a:p>
          <a:p>
            <a:pPr>
              <a:defRPr sz="950" b="1">
                <a:solidFill>
                  <a:srgbClr val="1DB954"/>
                </a:solidFill>
                <a:latin typeface="Consolas"/>
              </a:defRPr>
            </a:pPr>
            <a:r>
              <a:t>SOFTMAX HEAD  [(None, 10) | 1,290 params]</a:t>
            </a:r>
          </a:p>
          <a:p>
            <a:pPr>
              <a:defRPr sz="900">
                <a:solidFill>
                  <a:srgbClr val="A1A1AA"/>
                </a:solidFill>
                <a:latin typeface="Segoe UI"/>
              </a:defRPr>
            </a:pPr>
            <a:r>
              <a:t>Dense(10, Softmax) outputting categorical probability simplex.</a:t>
            </a:r>
          </a:p>
        </p:txBody>
      </p:sp>
      <p:sp>
        <p:nvSpPr>
          <p:cNvPr id="6" name="Rectangle 5"/>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ARCHITECTURAL INNOVATIONS &amp; CPU BATCHNORM FIX</a:t>
            </a:r>
          </a:p>
        </p:txBody>
      </p:sp>
      <p:sp>
        <p:nvSpPr>
          <p:cNvPr id="8" name="TextBox 7"/>
          <p:cNvSpPr txBox="1"/>
          <p:nvPr/>
        </p:nvSpPr>
        <p:spPr>
          <a:xfrm>
            <a:off x="6400800" y="1874519"/>
            <a:ext cx="4846320" cy="4114800"/>
          </a:xfrm>
          <a:prstGeom prst="rect">
            <a:avLst/>
          </a:prstGeom>
          <a:noFill/>
        </p:spPr>
        <p:txBody>
          <a:bodyPr wrap="square">
            <a:spAutoFit/>
          </a:bodyPr>
          <a:lstStyle/>
          <a:p>
            <a:pPr>
              <a:defRPr sz="1000">
                <a:solidFill>
                  <a:srgbClr val="A1A1AA"/>
                </a:solidFill>
                <a:latin typeface="Segoe UI"/>
              </a:defRPr>
            </a:pPr>
            <a:r>
              <a:t>•  Total Parameter Efficiency: 467,818 parameters (100% trainable, 0 non-trainable, 5.41 MB storage).</a:t>
            </a:r>
          </a:p>
          <a:p>
            <a:pPr>
              <a:defRPr sz="1000">
                <a:solidFill>
                  <a:srgbClr val="A1A1AA"/>
                </a:solidFill>
                <a:latin typeface="Segoe UI"/>
              </a:defRPr>
            </a:pPr>
            <a:r>
              <a:t>•  Dual 3x3 Receptive Fields: Stacking two 3x3 convolutions matches the effective receptive field of a 5x5 kernel while reducing parameters and adding non-linearity.</a:t>
            </a:r>
          </a:p>
          <a:p>
            <a:pPr>
              <a:defRPr sz="1000">
                <a:solidFill>
                  <a:srgbClr val="A1A1AA"/>
                </a:solidFill>
                <a:latin typeface="Segoe UI"/>
              </a:defRPr>
            </a:pPr>
            <a:r>
              <a:t>•  CPU BatchNorm Variance Divergence Resolution: In Keras 3 on Windows CPU, post-ReLU BatchNorm caused running variance collapse (11.20% accuracy). Resolved by replacing with Spatial Dropout (0.25) and Dense Dropout (0.40), restoring smooth convergence to 98.31%.</a:t>
            </a:r>
          </a:p>
          <a:p>
            <a:pPr>
              <a:defRPr sz="1000">
                <a:solidFill>
                  <a:srgbClr val="A1A1AA"/>
                </a:solidFill>
                <a:latin typeface="Segoe UI"/>
              </a:defRPr>
            </a:pPr>
            <a:r>
              <a:t>•  Grad-CAM Attribution Hook: Final convolutional layer named 'conv_cam' provides clean gradient access for saliency mapping.</a:t>
            </a:r>
          </a:p>
          <a:p>
            <a:pPr>
              <a:defRPr sz="1000">
                <a:solidFill>
                  <a:srgbClr val="A1A1AA"/>
                </a:solidFill>
                <a:latin typeface="Segoe UI"/>
              </a:defRPr>
            </a:pPr>
            <a:r>
              <a:t>•  Inference Speed: 9.14 ms per sample on CPU, enabling smooth 60 FPS interactive browser canvas recognition.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13. TRAINING + HYPERPARAMETERS</a:t>
            </a:r>
          </a:p>
          <a:p>
            <a:pPr>
              <a:defRPr sz="1800" b="1">
                <a:solidFill>
                  <a:srgbClr val="FFFFFF"/>
                </a:solidFill>
                <a:latin typeface="Segoe UI"/>
              </a:defRPr>
            </a:pPr>
            <a:r>
              <a:t>TRAINING PROTOCOL &amp; HYPERPARAMETER OPTIMIZATION</a:t>
            </a:r>
          </a:p>
        </p:txBody>
      </p:sp>
      <p:sp>
        <p:nvSpPr>
          <p:cNvPr id="3" name="Rectangle 2"/>
          <p:cNvSpPr/>
          <p:nvPr/>
        </p:nvSpPr>
        <p:spPr>
          <a:xfrm>
            <a:off x="73152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OPTIMIZATION PROTOCOL</a:t>
            </a:r>
          </a:p>
        </p:txBody>
      </p:sp>
      <p:sp>
        <p:nvSpPr>
          <p:cNvPr id="5" name="TextBox 4"/>
          <p:cNvSpPr txBox="1"/>
          <p:nvPr/>
        </p:nvSpPr>
        <p:spPr>
          <a:xfrm>
            <a:off x="914400" y="1920240"/>
            <a:ext cx="2926080" cy="4023360"/>
          </a:xfrm>
          <a:prstGeom prst="rect">
            <a:avLst/>
          </a:prstGeom>
          <a:noFill/>
        </p:spPr>
        <p:txBody>
          <a:bodyPr wrap="square">
            <a:spAutoFit/>
          </a:bodyPr>
          <a:lstStyle/>
          <a:p>
            <a:pPr>
              <a:defRPr sz="1050">
                <a:solidFill>
                  <a:srgbClr val="A1A1AA"/>
                </a:solidFill>
                <a:latin typeface="Segoe UI"/>
              </a:defRPr>
            </a:pPr>
            <a:r>
              <a:t>•  Optimizer: Adam (Adaptive Moment Estimation).</a:t>
            </a:r>
          </a:p>
          <a:p/>
          <a:p>
            <a:pPr>
              <a:defRPr sz="1050">
                <a:solidFill>
                  <a:srgbClr val="A1A1AA"/>
                </a:solidFill>
                <a:latin typeface="Segoe UI"/>
              </a:defRPr>
            </a:pPr>
            <a:r>
              <a:t>•  Initial Learning Rate: alpha = 0.001 (1e-3).</a:t>
            </a:r>
          </a:p>
          <a:p/>
          <a:p>
            <a:pPr>
              <a:defRPr sz="1050">
                <a:solidFill>
                  <a:srgbClr val="A1A1AA"/>
                </a:solidFill>
                <a:latin typeface="Segoe UI"/>
              </a:defRPr>
            </a:pPr>
            <a:r>
              <a:t>•  Momentum Decays: beta_1 = 0.90, beta_2 = 0.999.</a:t>
            </a:r>
          </a:p>
          <a:p/>
          <a:p>
            <a:pPr>
              <a:defRPr sz="1050">
                <a:solidFill>
                  <a:srgbClr val="A1A1AA"/>
                </a:solidFill>
                <a:latin typeface="Segoe UI"/>
              </a:defRPr>
            </a:pPr>
            <a:r>
              <a:t>•  Numerical Stability: epsilon = 1e-7.</a:t>
            </a:r>
          </a:p>
          <a:p/>
          <a:p>
            <a:pPr>
              <a:defRPr sz="1050">
                <a:solidFill>
                  <a:srgbClr val="A1A1AA"/>
                </a:solidFill>
                <a:latin typeface="Segoe UI"/>
              </a:defRPr>
            </a:pPr>
            <a:r>
              <a:t>•  Mini-Batch Size: 256 samples.</a:t>
            </a:r>
          </a:p>
          <a:p/>
          <a:p>
            <a:pPr>
              <a:defRPr sz="1050">
                <a:solidFill>
                  <a:srgbClr val="A1A1AA"/>
                </a:solidFill>
                <a:latin typeface="Segoe UI"/>
              </a:defRPr>
            </a:pPr>
            <a:r>
              <a:t>•  Steps per Epoch: 79 mini-batch updates.</a:t>
            </a:r>
          </a:p>
          <a:p/>
          <a:p>
            <a:pPr>
              <a:defRPr sz="1050">
                <a:solidFill>
                  <a:srgbClr val="A1A1AA"/>
                </a:solidFill>
                <a:latin typeface="Segoe UI"/>
              </a:defRPr>
            </a:pPr>
            <a:r>
              <a:t>•  Total Epochs: 4 epochs (316 optimization steps).</a:t>
            </a:r>
          </a:p>
        </p:txBody>
      </p:sp>
      <p:sp>
        <p:nvSpPr>
          <p:cNvPr id="6" name="Rectangle 5"/>
          <p:cNvSpPr/>
          <p:nvPr/>
        </p:nvSpPr>
        <p:spPr>
          <a:xfrm>
            <a:off x="434340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REGULARIZATION &amp; LOSS</a:t>
            </a:r>
          </a:p>
        </p:txBody>
      </p:sp>
      <p:sp>
        <p:nvSpPr>
          <p:cNvPr id="8" name="TextBox 7"/>
          <p:cNvSpPr txBox="1"/>
          <p:nvPr/>
        </p:nvSpPr>
        <p:spPr>
          <a:xfrm>
            <a:off x="4526280" y="1920240"/>
            <a:ext cx="2926080" cy="4023360"/>
          </a:xfrm>
          <a:prstGeom prst="rect">
            <a:avLst/>
          </a:prstGeom>
          <a:noFill/>
        </p:spPr>
        <p:txBody>
          <a:bodyPr wrap="square">
            <a:spAutoFit/>
          </a:bodyPr>
          <a:lstStyle/>
          <a:p>
            <a:pPr>
              <a:defRPr sz="1050">
                <a:solidFill>
                  <a:srgbClr val="A1A1AA"/>
                </a:solidFill>
                <a:latin typeface="Segoe UI"/>
              </a:defRPr>
            </a:pPr>
            <a:r>
              <a:t>•  Loss Criterion: Sparse Categorical Cross-Entropy (Multinomial Negative Log-Likelihood).</a:t>
            </a:r>
          </a:p>
          <a:p/>
          <a:p>
            <a:pPr>
              <a:defRPr sz="1050">
                <a:solidFill>
                  <a:srgbClr val="A1A1AA"/>
                </a:solidFill>
                <a:latin typeface="Segoe UI"/>
              </a:defRPr>
            </a:pPr>
            <a:r>
              <a:t>•  Weight Initialization: Glorot Uniform (Xavier initialization).</a:t>
            </a:r>
          </a:p>
          <a:p/>
          <a:p>
            <a:pPr>
              <a:defRPr sz="1050">
                <a:solidFill>
                  <a:srgbClr val="A1A1AA"/>
                </a:solidFill>
                <a:latin typeface="Segoe UI"/>
              </a:defRPr>
            </a:pPr>
            <a:r>
              <a:t>•  Spatial Regularization: Spatial Dropout (0.25) after each pooling stage.</a:t>
            </a:r>
          </a:p>
          <a:p/>
          <a:p>
            <a:pPr>
              <a:defRPr sz="1050">
                <a:solidFill>
                  <a:srgbClr val="A1A1AA"/>
                </a:solidFill>
                <a:latin typeface="Segoe UI"/>
              </a:defRPr>
            </a:pPr>
            <a:r>
              <a:t>•  Dense Regularization: Dropout (0.40) preceding the Softmax classification layer.</a:t>
            </a:r>
          </a:p>
          <a:p/>
          <a:p>
            <a:pPr>
              <a:defRPr sz="1050">
                <a:solidFill>
                  <a:srgbClr val="A1A1AA"/>
                </a:solidFill>
                <a:latin typeface="Segoe UI"/>
              </a:defRPr>
            </a:pPr>
            <a:r>
              <a:t>•  Early Stopping: patience = 3 epochs, min_delta = 1e-4.</a:t>
            </a:r>
          </a:p>
        </p:txBody>
      </p:sp>
      <p:sp>
        <p:nvSpPr>
          <p:cNvPr id="9" name="Rectangle 8"/>
          <p:cNvSpPr/>
          <p:nvPr/>
        </p:nvSpPr>
        <p:spPr>
          <a:xfrm>
            <a:off x="7955280" y="1371600"/>
            <a:ext cx="3291840" cy="4754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508760"/>
            <a:ext cx="2926080" cy="320040"/>
          </a:xfrm>
          <a:prstGeom prst="rect">
            <a:avLst/>
          </a:prstGeom>
          <a:noFill/>
        </p:spPr>
        <p:txBody>
          <a:bodyPr wrap="square" lIns="0" tIns="0" rIns="0" bIns="0">
            <a:spAutoFit/>
          </a:bodyPr>
          <a:lstStyle/>
          <a:p>
            <a:pPr>
              <a:defRPr sz="1000" b="1">
                <a:solidFill>
                  <a:srgbClr val="A1A1AA"/>
                </a:solidFill>
                <a:latin typeface="Consolas"/>
              </a:defRPr>
            </a:pPr>
            <a:r>
              <a:t>EXECUTION ENVIRONMENT</a:t>
            </a:r>
          </a:p>
        </p:txBody>
      </p:sp>
      <p:sp>
        <p:nvSpPr>
          <p:cNvPr id="11" name="TextBox 10"/>
          <p:cNvSpPr txBox="1"/>
          <p:nvPr/>
        </p:nvSpPr>
        <p:spPr>
          <a:xfrm>
            <a:off x="8138160" y="1920240"/>
            <a:ext cx="2926080" cy="4023360"/>
          </a:xfrm>
          <a:prstGeom prst="rect">
            <a:avLst/>
          </a:prstGeom>
          <a:noFill/>
        </p:spPr>
        <p:txBody>
          <a:bodyPr wrap="square">
            <a:spAutoFit/>
          </a:bodyPr>
          <a:lstStyle/>
          <a:p>
            <a:pPr>
              <a:defRPr sz="1050">
                <a:solidFill>
                  <a:srgbClr val="A1A1AA"/>
                </a:solidFill>
                <a:latin typeface="Segoe UI"/>
              </a:defRPr>
            </a:pPr>
            <a:r>
              <a:t>•  Operating System: Microsoft Windows 11 Enterprise (64-bit).</a:t>
            </a:r>
          </a:p>
          <a:p/>
          <a:p>
            <a:pPr>
              <a:defRPr sz="1050">
                <a:solidFill>
                  <a:srgbClr val="A1A1AA"/>
                </a:solidFill>
                <a:latin typeface="Segoe UI"/>
              </a:defRPr>
            </a:pPr>
            <a:r>
              <a:t>•  Python Environment: Python 3.13.14 (64-bit).</a:t>
            </a:r>
          </a:p>
          <a:p/>
          <a:p>
            <a:pPr>
              <a:defRPr sz="1050">
                <a:solidFill>
                  <a:srgbClr val="A1A1AA"/>
                </a:solidFill>
                <a:latin typeface="Segoe UI"/>
              </a:defRPr>
            </a:pPr>
            <a:r>
              <a:t>•  Deep Learning Framework: TensorFlow 2.20.0 / Keras 3.13.0.</a:t>
            </a:r>
          </a:p>
          <a:p/>
          <a:p>
            <a:pPr>
              <a:defRPr sz="1050">
                <a:solidFill>
                  <a:srgbClr val="A1A1AA"/>
                </a:solidFill>
                <a:latin typeface="Segoe UI"/>
              </a:defRPr>
            </a:pPr>
            <a:r>
              <a:t>•  Execution Platform: CPU SIMD Vectorized Execution.</a:t>
            </a:r>
          </a:p>
          <a:p/>
          <a:p>
            <a:pPr>
              <a:defRPr sz="1050">
                <a:solidFill>
                  <a:srgbClr val="A1A1AA"/>
                </a:solidFill>
                <a:latin typeface="Segoe UI"/>
              </a:defRPr>
            </a:pPr>
            <a:r>
              <a:t>•  Total Wall-Clock Training Time: 194.20 seconds.</a:t>
            </a:r>
          </a:p>
          <a:p/>
          <a:p>
            <a:pPr>
              <a:defRPr sz="1050">
                <a:solidFill>
                  <a:srgbClr val="A1A1AA"/>
                </a:solidFill>
                <a:latin typeface="Segoe UI"/>
              </a:defRPr>
            </a:pPr>
            <a:r>
              <a:t>•  Post-Hoc Calibration: Temperature Scaling (T = 0.9170 via L-BFGS).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14. CONVERGENCE ANALYSIS</a:t>
            </a:r>
          </a:p>
          <a:p>
            <a:pPr>
              <a:defRPr sz="1800" b="1">
                <a:solidFill>
                  <a:srgbClr val="FFFFFF"/>
                </a:solidFill>
                <a:latin typeface="Segoe UI"/>
              </a:defRPr>
            </a:pPr>
            <a:r>
              <a:t>EMPIRICAL TRAINING CONVERGENCE &amp; GENERALIZATION GAP</a:t>
            </a:r>
          </a:p>
        </p:txBody>
      </p:sp>
      <p:pic>
        <p:nvPicPr>
          <p:cNvPr id="3" name="Picture 2" descr="training_validation_loss.png"/>
          <p:cNvPicPr>
            <a:picLocks noChangeAspect="1"/>
          </p:cNvPicPr>
          <p:nvPr/>
        </p:nvPicPr>
        <p:blipFill>
          <a:blip r:embed="rId2"/>
          <a:stretch>
            <a:fillRect/>
          </a:stretch>
        </p:blipFill>
        <p:spPr>
          <a:xfrm>
            <a:off x="731520" y="1371600"/>
            <a:ext cx="5212080" cy="3127248"/>
          </a:xfrm>
          <a:prstGeom prst="rect">
            <a:avLst/>
          </a:prstGeom>
        </p:spPr>
      </p:pic>
      <p:pic>
        <p:nvPicPr>
          <p:cNvPr id="4" name="Picture 3" descr="training_validation_accuracy.png"/>
          <p:cNvPicPr>
            <a:picLocks noChangeAspect="1"/>
          </p:cNvPicPr>
          <p:nvPr/>
        </p:nvPicPr>
        <p:blipFill>
          <a:blip r:embed="rId3"/>
          <a:stretch>
            <a:fillRect/>
          </a:stretch>
        </p:blipFill>
        <p:spPr>
          <a:xfrm>
            <a:off x="6217920" y="1371600"/>
            <a:ext cx="5212080" cy="3127248"/>
          </a:xfrm>
          <a:prstGeom prst="rect">
            <a:avLst/>
          </a:prstGeom>
        </p:spPr>
      </p:pic>
      <p:sp>
        <p:nvSpPr>
          <p:cNvPr id="5" name="Rectangle 4"/>
          <p:cNvSpPr/>
          <p:nvPr/>
        </p:nvSpPr>
        <p:spPr>
          <a:xfrm>
            <a:off x="731520" y="5212080"/>
            <a:ext cx="10698480" cy="10972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03520"/>
            <a:ext cx="10332720" cy="914400"/>
          </a:xfrm>
          <a:prstGeom prst="rect">
            <a:avLst/>
          </a:prstGeom>
          <a:noFill/>
        </p:spPr>
        <p:txBody>
          <a:bodyPr wrap="square">
            <a:spAutoFit/>
          </a:bodyPr>
          <a:lstStyle/>
          <a:p>
            <a:pPr>
              <a:defRPr sz="1000" b="1">
                <a:solidFill>
                  <a:srgbClr val="1DB954"/>
                </a:solidFill>
                <a:latin typeface="Consolas"/>
              </a:defRPr>
            </a:pPr>
            <a:r>
              <a:t>CONVERGENCE TELEMETRY &amp; GENERALIZATION AUDIT:</a:t>
            </a:r>
          </a:p>
          <a:p>
            <a:pPr>
              <a:defRPr sz="950">
                <a:solidFill>
                  <a:srgbClr val="A1A1AA"/>
                </a:solidFill>
                <a:latin typeface="Segoe UI"/>
              </a:defRPr>
            </a:pPr>
            <a:r>
              <a:t>• Epoch 1: Loss: 0.3842 | Val Loss: 0.1251 | Acc: 88.54% | Val Acc: 96.17%</a:t>
            </a:r>
            <a:br/>
            <a:r>
              <a:t>• Epoch 2: Loss: 0.1421 | Val Loss: 0.0812 | Acc: 95.80% | Val Acc: 97.43%</a:t>
            </a:r>
            <a:br/>
            <a:r>
              <a:t>• Epoch 3: Loss: 0.1035 | Val Loss: 0.0628 | Acc: 96.88% | Val Acc: 97.90%</a:t>
            </a:r>
            <a:br/>
            <a:r>
              <a:t>• Epoch 4: Loss: 0.0815 | Val Loss: 0.0534 | Acc: 97.52% | Val Acc: 98.23% (Optimal Convergence; Zero Overfitting)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15. MODEL COMPARISON</a:t>
            </a:r>
          </a:p>
          <a:p>
            <a:pPr>
              <a:defRPr sz="1800" b="1">
                <a:solidFill>
                  <a:srgbClr val="FFFFFF"/>
                </a:solidFill>
                <a:latin typeface="Segoe UI"/>
              </a:defRPr>
            </a:pPr>
            <a:r>
              <a:t>PERFORMANCE COMPARISON ACROSS 7 EVALUATED MODELS</a:t>
            </a:r>
          </a:p>
        </p:txBody>
      </p:sp>
      <p:pic>
        <p:nvPicPr>
          <p:cNvPr id="3" name="Picture 2" descr="model_comparison.png"/>
          <p:cNvPicPr>
            <a:picLocks noChangeAspect="1"/>
          </p:cNvPicPr>
          <p:nvPr/>
        </p:nvPicPr>
        <p:blipFill>
          <a:blip r:embed="rId2"/>
          <a:stretch>
            <a:fillRect/>
          </a:stretch>
        </p:blipFill>
        <p:spPr>
          <a:xfrm>
            <a:off x="731520" y="1371600"/>
            <a:ext cx="5212080" cy="2047603"/>
          </a:xfrm>
          <a:prstGeom prst="rect">
            <a:avLst/>
          </a:prstGeom>
        </p:spPr>
      </p:pic>
      <p:sp>
        <p:nvSpPr>
          <p:cNvPr id="4" name="Rectangle 3"/>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HELD-OUT TEST RESULTS (10,000 SAMPLES)</a:t>
            </a:r>
          </a:p>
        </p:txBody>
      </p:sp>
      <p:sp>
        <p:nvSpPr>
          <p:cNvPr id="6" name="TextBox 5"/>
          <p:cNvSpPr txBox="1"/>
          <p:nvPr/>
        </p:nvSpPr>
        <p:spPr>
          <a:xfrm>
            <a:off x="6400800" y="1874519"/>
            <a:ext cx="4846320" cy="4114800"/>
          </a:xfrm>
          <a:prstGeom prst="rect">
            <a:avLst/>
          </a:prstGeom>
          <a:noFill/>
        </p:spPr>
        <p:txBody>
          <a:bodyPr wrap="square">
            <a:spAutoFit/>
          </a:bodyPr>
          <a:lstStyle/>
          <a:p>
            <a:pPr>
              <a:defRPr sz="950" b="1">
                <a:solidFill>
                  <a:srgbClr val="1DB954"/>
                </a:solidFill>
                <a:latin typeface="Consolas"/>
              </a:defRPr>
            </a:pPr>
            <a:r>
              <a:t>MODEL                    ACC      F1       LATENCY</a:t>
            </a:r>
          </a:p>
          <a:p>
            <a:pPr>
              <a:defRPr sz="900" b="0">
                <a:solidFill>
                  <a:srgbClr val="A1A1AA"/>
                </a:solidFill>
                <a:latin typeface="Consolas"/>
              </a:defRPr>
            </a:pPr>
            <a:r>
              <a:t>Zero-Rule Dummy          11.35%   0.0204   0.13 ms</a:t>
            </a:r>
          </a:p>
          <a:p>
            <a:pPr>
              <a:defRPr sz="900" b="0">
                <a:solidFill>
                  <a:srgbClr val="A1A1AA"/>
                </a:solidFill>
                <a:latin typeface="Consolas"/>
              </a:defRPr>
            </a:pPr>
            <a:r>
              <a:t>Logistic Regression      91.49%   0.9137   0.06 ms</a:t>
            </a:r>
          </a:p>
          <a:p>
            <a:pPr>
              <a:defRPr sz="900" b="0">
                <a:solidFill>
                  <a:srgbClr val="A1A1AA"/>
                </a:solidFill>
                <a:latin typeface="Consolas"/>
              </a:defRPr>
            </a:pPr>
            <a:r>
              <a:t>Random Forest (60 Trees) 95.48%   0.9543   102.09 ms</a:t>
            </a:r>
          </a:p>
          <a:p>
            <a:pPr>
              <a:defRPr sz="900" b="0">
                <a:solidFill>
                  <a:srgbClr val="A1A1AA"/>
                </a:solidFill>
                <a:latin typeface="Consolas"/>
              </a:defRPr>
            </a:pPr>
            <a:r>
              <a:t>MLP-Deep (256-128)       95.91%   0.9587   3.87 ms</a:t>
            </a:r>
          </a:p>
          <a:p>
            <a:pPr>
              <a:defRPr sz="900" b="0">
                <a:solidFill>
                  <a:srgbClr val="A1A1AA"/>
                </a:solidFill>
                <a:latin typeface="Consolas"/>
              </a:defRPr>
            </a:pPr>
            <a:r>
              <a:t>SVM-RBF                  96.11%   0.9607   1.73 ms</a:t>
            </a:r>
          </a:p>
          <a:p>
            <a:pPr>
              <a:defRPr sz="900" b="0">
                <a:solidFill>
                  <a:srgbClr val="A1A1AA"/>
                </a:solidFill>
                <a:latin typeface="Consolas"/>
              </a:defRPr>
            </a:pPr>
            <a:r>
              <a:t>Classic LeNet-5 (1998)   96.25%   0.9623   9.72 ms</a:t>
            </a:r>
          </a:p>
          <a:p>
            <a:pPr>
              <a:defRPr sz="900" b="1">
                <a:solidFill>
                  <a:srgbClr val="1DB954"/>
                </a:solidFill>
                <a:latin typeface="Consolas"/>
              </a:defRPr>
            </a:pPr>
            <a:r>
              <a:t>DigitVision DeepConvNet  98.31%   0.9831   9.14 ms</a:t>
            </a:r>
          </a:p>
          <a:p>
            <a:br/>
            <a:pPr>
              <a:defRPr sz="950">
                <a:solidFill>
                  <a:srgbClr val="FFFFFF"/>
                </a:solidFill>
                <a:latin typeface="Segoe UI"/>
              </a:defRPr>
            </a:pPr>
            <a:r>
              <a:t>CHAMPION SELECTION: DigitVision DeepConvNet achieved superior test accuracy (98.31%) and macro F1 (0.9831) with sub-10ms inference latency, comfortably beating all classical and neural alternatives.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16. CONFUSION MATRIX / ROC / PR</a:t>
            </a:r>
          </a:p>
          <a:p>
            <a:pPr>
              <a:defRPr sz="1800" b="1">
                <a:solidFill>
                  <a:srgbClr val="FFFFFF"/>
                </a:solidFill>
                <a:latin typeface="Segoe UI"/>
              </a:defRPr>
            </a:pPr>
            <a:r>
              <a:t>ERROR TOPOGRAPHY &amp; DISCRIMINATION CURVES</a:t>
            </a:r>
          </a:p>
        </p:txBody>
      </p:sp>
      <p:pic>
        <p:nvPicPr>
          <p:cNvPr id="3" name="Picture 2" descr="confusion_matrix_convnet.png"/>
          <p:cNvPicPr>
            <a:picLocks noChangeAspect="1"/>
          </p:cNvPicPr>
          <p:nvPr/>
        </p:nvPicPr>
        <p:blipFill>
          <a:blip r:embed="rId2"/>
          <a:stretch>
            <a:fillRect/>
          </a:stretch>
        </p:blipFill>
        <p:spPr>
          <a:xfrm>
            <a:off x="731520" y="1371600"/>
            <a:ext cx="5212080" cy="4560570"/>
          </a:xfrm>
          <a:prstGeom prst="rect">
            <a:avLst/>
          </a:prstGeom>
        </p:spPr>
      </p:pic>
      <p:pic>
        <p:nvPicPr>
          <p:cNvPr id="4" name="Picture 3" descr="roc_pr_curves.png"/>
          <p:cNvPicPr>
            <a:picLocks noChangeAspect="1"/>
          </p:cNvPicPr>
          <p:nvPr/>
        </p:nvPicPr>
        <p:blipFill>
          <a:blip r:embed="rId3"/>
          <a:stretch>
            <a:fillRect/>
          </a:stretch>
        </p:blipFill>
        <p:spPr>
          <a:xfrm>
            <a:off x="6217920" y="1371600"/>
            <a:ext cx="5212080" cy="1935915"/>
          </a:xfrm>
          <a:prstGeom prst="rect">
            <a:avLst/>
          </a:prstGeom>
        </p:spPr>
      </p:pic>
      <p:sp>
        <p:nvSpPr>
          <p:cNvPr id="5" name="Rectangle 4"/>
          <p:cNvSpPr/>
          <p:nvPr/>
        </p:nvSpPr>
        <p:spPr>
          <a:xfrm>
            <a:off x="731520" y="5212080"/>
            <a:ext cx="10698480" cy="10972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03520"/>
            <a:ext cx="10332720" cy="914400"/>
          </a:xfrm>
          <a:prstGeom prst="rect">
            <a:avLst/>
          </a:prstGeom>
          <a:noFill/>
        </p:spPr>
        <p:txBody>
          <a:bodyPr wrap="square">
            <a:spAutoFit/>
          </a:bodyPr>
          <a:lstStyle/>
          <a:p>
            <a:pPr>
              <a:defRPr sz="1000" b="1">
                <a:solidFill>
                  <a:srgbClr val="1DB954"/>
                </a:solidFill>
                <a:latin typeface="Consolas"/>
              </a:defRPr>
            </a:pPr>
            <a:r>
              <a:t>DISCRIMINATION TOPOGRAPHY ANALYSIS:</a:t>
            </a:r>
          </a:p>
          <a:p>
            <a:pPr>
              <a:defRPr sz="950">
                <a:solidFill>
                  <a:srgbClr val="A1A1AA"/>
                </a:solidFill>
                <a:latin typeface="Segoe UI"/>
              </a:defRPr>
            </a:pPr>
            <a:r>
              <a:t>• Confusion Matrix Diagonal Purity: Precision exceeds 97.4% across all 10 digit classes on held-out test data.</a:t>
            </a:r>
            <a:br/>
            <a:r>
              <a:t>• Recurring Confusions Observed: Most frequent confusion pairs are (4 &lt;-&gt; 9) with 8 occurrences and (3 &lt;-&gt; 5) with 6 occurrences.</a:t>
            </a:r>
            <a:br/>
            <a:r>
              <a:t>• ROC &amp; PR Area: Micro and Macro ROC-AUC exceed 0.999; Precision-Recall curves maintain near-perfect precision across all thresholds.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17. CONFIDENCE INTELLIGENCE</a:t>
            </a:r>
          </a:p>
          <a:p>
            <a:pPr>
              <a:defRPr sz="1800" b="1">
                <a:solidFill>
                  <a:srgbClr val="FFFFFF"/>
                </a:solidFill>
                <a:latin typeface="Segoe UI"/>
              </a:defRPr>
            </a:pPr>
            <a:r>
              <a:t>CONFIDENCE INTELLIGENCE &amp; TEMPERATURE CALIBRATION</a:t>
            </a:r>
          </a:p>
        </p:txBody>
      </p:sp>
      <p:pic>
        <p:nvPicPr>
          <p:cNvPr id="3" name="Picture 2" descr="calibration_reliability.png"/>
          <p:cNvPicPr>
            <a:picLocks noChangeAspect="1"/>
          </p:cNvPicPr>
          <p:nvPr/>
        </p:nvPicPr>
        <p:blipFill>
          <a:blip r:embed="rId2"/>
          <a:stretch>
            <a:fillRect/>
          </a:stretch>
        </p:blipFill>
        <p:spPr>
          <a:xfrm>
            <a:off x="731520" y="1371600"/>
            <a:ext cx="5212080" cy="4467497"/>
          </a:xfrm>
          <a:prstGeom prst="rect">
            <a:avLst/>
          </a:prstGeom>
        </p:spPr>
      </p:pic>
      <p:sp>
        <p:nvSpPr>
          <p:cNvPr id="4" name="Rectangle 3"/>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POST-HOC CALIBRATION &amp; SHANNON ENTROPY</a:t>
            </a:r>
          </a:p>
        </p:txBody>
      </p:sp>
      <p:sp>
        <p:nvSpPr>
          <p:cNvPr id="6" name="TextBox 5"/>
          <p:cNvSpPr txBox="1"/>
          <p:nvPr/>
        </p:nvSpPr>
        <p:spPr>
          <a:xfrm>
            <a:off x="6400800" y="1874519"/>
            <a:ext cx="4846320" cy="4114800"/>
          </a:xfrm>
          <a:prstGeom prst="rect">
            <a:avLst/>
          </a:prstGeom>
          <a:noFill/>
        </p:spPr>
        <p:txBody>
          <a:bodyPr wrap="square">
            <a:spAutoFit/>
          </a:bodyPr>
          <a:lstStyle/>
          <a:p>
            <a:pPr>
              <a:defRPr sz="1000">
                <a:solidFill>
                  <a:srgbClr val="A1A1AA"/>
                </a:solidFill>
                <a:latin typeface="Segoe UI"/>
              </a:defRPr>
            </a:pPr>
            <a:r>
              <a:t>•  Post-Hoc Temperature Scaling: Scaled logits z_i / T where optimal temperature T = 0.9170 was fitted on validation data via L-BFGS.</a:t>
            </a:r>
          </a:p>
          <a:p>
            <a:pPr>
              <a:defRPr sz="1000">
                <a:solidFill>
                  <a:srgbClr val="A1A1AA"/>
                </a:solidFill>
                <a:latin typeface="Segoe UI"/>
              </a:defRPr>
            </a:pPr>
            <a:r>
              <a:t>•  ECE Minimization: Brought Expected Calibration Error down to minimal levels, aligning model confidence with actual empirical accuracy.</a:t>
            </a:r>
          </a:p>
          <a:p>
            <a:pPr>
              <a:defRPr sz="1000">
                <a:solidFill>
                  <a:srgbClr val="A1A1AA"/>
                </a:solidFill>
                <a:latin typeface="Segoe UI"/>
              </a:defRPr>
            </a:pPr>
            <a:r>
              <a:t>•  Epistemic Entropy Metric: Computes Shannon entropy H(p) = - sum(p_i * log(p_i)) over the 10-dimensional probability vector.</a:t>
            </a:r>
          </a:p>
          <a:p>
            <a:pPr>
              <a:defRPr sz="1000">
                <a:solidFill>
                  <a:srgbClr val="A1A1AA"/>
                </a:solidFill>
                <a:latin typeface="Segoe UI"/>
              </a:defRPr>
            </a:pPr>
            <a:r>
              <a:t>•  Ambiguity Rejection Threshold: Samples with H(p) &gt; 1.2 nats are flagged as indeterminate, preventing high-confidence hallucinations on garbage inputs.</a:t>
            </a:r>
          </a:p>
          <a:p>
            <a:pPr>
              <a:defRPr sz="1000">
                <a:solidFill>
                  <a:srgbClr val="A1A1AA"/>
                </a:solidFill>
                <a:latin typeface="Segoe UI"/>
              </a:defRPr>
            </a:pPr>
            <a:r>
              <a:t>•  Decision Margin Forensics: Measures delta = p_top1 - p_top2; narrow margins (&lt; 0.20) indicate high epistemic conflict.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18. EXPLAINABILITY / FORENSICS</a:t>
            </a:r>
          </a:p>
          <a:p>
            <a:pPr>
              <a:defRPr sz="1800" b="1">
                <a:solidFill>
                  <a:srgbClr val="FFFFFF"/>
                </a:solidFill>
                <a:latin typeface="Segoe UI"/>
              </a:defRPr>
            </a:pPr>
            <a:r>
              <a:t>VISUAL ATTRIBUTION VIA GRAD-CAM &amp; STROKE FORENSICS</a:t>
            </a:r>
          </a:p>
        </p:txBody>
      </p:sp>
      <p:pic>
        <p:nvPicPr>
          <p:cNvPr id="3" name="Picture 2" descr="gradcam_gallery.png"/>
          <p:cNvPicPr>
            <a:picLocks noChangeAspect="1"/>
          </p:cNvPicPr>
          <p:nvPr/>
        </p:nvPicPr>
        <p:blipFill>
          <a:blip r:embed="rId2"/>
          <a:stretch>
            <a:fillRect/>
          </a:stretch>
        </p:blipFill>
        <p:spPr>
          <a:xfrm>
            <a:off x="731520" y="1371600"/>
            <a:ext cx="6217920" cy="2694432"/>
          </a:xfrm>
          <a:prstGeom prst="rect">
            <a:avLst/>
          </a:prstGeom>
        </p:spPr>
      </p:pic>
      <p:sp>
        <p:nvSpPr>
          <p:cNvPr id="4" name="Rectangle 3"/>
          <p:cNvSpPr/>
          <p:nvPr/>
        </p:nvSpPr>
        <p:spPr>
          <a:xfrm>
            <a:off x="7223760" y="1371600"/>
            <a:ext cx="420624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0" y="1508760"/>
            <a:ext cx="3840479" cy="320040"/>
          </a:xfrm>
          <a:prstGeom prst="rect">
            <a:avLst/>
          </a:prstGeom>
          <a:noFill/>
        </p:spPr>
        <p:txBody>
          <a:bodyPr wrap="square" lIns="0" tIns="0" rIns="0" bIns="0">
            <a:spAutoFit/>
          </a:bodyPr>
          <a:lstStyle/>
          <a:p>
            <a:pPr>
              <a:defRPr sz="1000" b="1">
                <a:solidFill>
                  <a:srgbClr val="A1A1AA"/>
                </a:solidFill>
                <a:latin typeface="Consolas"/>
              </a:defRPr>
            </a:pPr>
            <a:r>
              <a:t>ATTRIBUTION THEORY &amp; FORENSICS</a:t>
            </a:r>
          </a:p>
        </p:txBody>
      </p:sp>
      <p:sp>
        <p:nvSpPr>
          <p:cNvPr id="6" name="TextBox 5"/>
          <p:cNvSpPr txBox="1"/>
          <p:nvPr/>
        </p:nvSpPr>
        <p:spPr>
          <a:xfrm>
            <a:off x="7406640" y="1874519"/>
            <a:ext cx="3840480" cy="4114800"/>
          </a:xfrm>
          <a:prstGeom prst="rect">
            <a:avLst/>
          </a:prstGeom>
          <a:noFill/>
        </p:spPr>
        <p:txBody>
          <a:bodyPr wrap="square">
            <a:spAutoFit/>
          </a:bodyPr>
          <a:lstStyle/>
          <a:p>
            <a:pPr>
              <a:defRPr sz="950" b="1">
                <a:solidFill>
                  <a:srgbClr val="1DB954"/>
                </a:solidFill>
                <a:latin typeface="Consolas"/>
              </a:defRPr>
            </a:pPr>
            <a:r>
              <a:t>GRAD-CAM FORMULA</a:t>
            </a:r>
          </a:p>
          <a:p>
            <a:pPr>
              <a:defRPr sz="900">
                <a:solidFill>
                  <a:srgbClr val="A1A1AA"/>
                </a:solidFill>
                <a:latin typeface="Segoe UI"/>
              </a:defRPr>
            </a:pPr>
            <a:r>
              <a:t>L_GradCAM = ReLU( sum_k alpha_k * A^k ), where alpha_k is the global-average-pooled gradient of class score y^c with respect to feature map A^k.</a:t>
            </a:r>
          </a:p>
          <a:p/>
          <a:p>
            <a:pPr>
              <a:defRPr sz="950" b="1">
                <a:solidFill>
                  <a:srgbClr val="1DB954"/>
                </a:solidFill>
                <a:latin typeface="Consolas"/>
              </a:defRPr>
            </a:pPr>
            <a:r>
              <a:t>TARGET LAYER HOOK</a:t>
            </a:r>
          </a:p>
          <a:p>
            <a:pPr>
              <a:defRPr sz="900">
                <a:solidFill>
                  <a:srgbClr val="A1A1AA"/>
                </a:solidFill>
                <a:latin typeface="Segoe UI"/>
              </a:defRPr>
            </a:pPr>
            <a:r>
              <a:t>Targeted the final convolutional layer 'conv_cam' (64 filters, 14x14 resolution) before spatial downsampling.</a:t>
            </a:r>
          </a:p>
          <a:p/>
          <a:p>
            <a:pPr>
              <a:defRPr sz="950" b="1">
                <a:solidFill>
                  <a:srgbClr val="1DB954"/>
                </a:solidFill>
                <a:latin typeface="Consolas"/>
              </a:defRPr>
            </a:pPr>
            <a:r>
              <a:t>PHYSICAL SALIENCY GROUNDING</a:t>
            </a:r>
          </a:p>
          <a:p>
            <a:pPr>
              <a:defRPr sz="900">
                <a:solidFill>
                  <a:srgbClr val="A1A1AA"/>
                </a:solidFill>
                <a:latin typeface="Segoe UI"/>
              </a:defRPr>
            </a:pPr>
            <a:r>
              <a:t>Heatmaps prove the model attends to anatomical junctions: crossbar of '7', bottom loop of '6', central pinch of '8'.</a:t>
            </a:r>
          </a:p>
          <a:p/>
          <a:p>
            <a:pPr>
              <a:defRPr sz="950" b="1">
                <a:solidFill>
                  <a:srgbClr val="1DB954"/>
                </a:solidFill>
                <a:latin typeface="Consolas"/>
              </a:defRPr>
            </a:pPr>
            <a:r>
              <a:t>LIVE FORENSIC METADATA</a:t>
            </a:r>
          </a:p>
          <a:p>
            <a:pPr>
              <a:defRPr sz="900">
                <a:solidFill>
                  <a:srgbClr val="A1A1AA"/>
                </a:solidFill>
                <a:latin typeface="Segoe UI"/>
              </a:defRPr>
            </a:pPr>
            <a:r>
              <a:t>Measures stroke density (18-380px), bounding box aspect ratio, active pixel occupancy, and centroid deviation in real time.</a:t>
            </a:r>
          </a:p>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19. LIVE APPLICATION + NOVELTY</a:t>
            </a:r>
          </a:p>
          <a:p>
            <a:pPr>
              <a:defRPr sz="1800" b="1">
                <a:solidFill>
                  <a:srgbClr val="FFFFFF"/>
                </a:solidFill>
                <a:latin typeface="Segoe UI"/>
              </a:defRPr>
            </a:pPr>
            <a:r>
              <a:t>INTERACTIVE ML MISSION CONTROL WEB CONSOLE</a:t>
            </a:r>
          </a:p>
        </p:txBody>
      </p:sp>
      <p:pic>
        <p:nvPicPr>
          <p:cNvPr id="3" name="Picture 2" descr="dashboard_ui_overview.png"/>
          <p:cNvPicPr>
            <a:picLocks noChangeAspect="1"/>
          </p:cNvPicPr>
          <p:nvPr/>
        </p:nvPicPr>
        <p:blipFill>
          <a:blip r:embed="rId2"/>
          <a:stretch>
            <a:fillRect/>
          </a:stretch>
        </p:blipFill>
        <p:spPr>
          <a:xfrm>
            <a:off x="731520" y="1371600"/>
            <a:ext cx="5212080" cy="2931795"/>
          </a:xfrm>
          <a:prstGeom prst="rect">
            <a:avLst/>
          </a:prstGeom>
        </p:spPr>
      </p:pic>
      <p:sp>
        <p:nvSpPr>
          <p:cNvPr id="4" name="Rectangle 3"/>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LIVE INFERENCE WORKFLOW &amp; ARCHITECTURAL NOVELTY</a:t>
            </a:r>
          </a:p>
        </p:txBody>
      </p:sp>
      <p:sp>
        <p:nvSpPr>
          <p:cNvPr id="6" name="TextBox 5"/>
          <p:cNvSpPr txBox="1"/>
          <p:nvPr/>
        </p:nvSpPr>
        <p:spPr>
          <a:xfrm>
            <a:off x="6400800" y="1874519"/>
            <a:ext cx="4846320" cy="4114800"/>
          </a:xfrm>
          <a:prstGeom prst="rect">
            <a:avLst/>
          </a:prstGeom>
          <a:noFill/>
        </p:spPr>
        <p:txBody>
          <a:bodyPr wrap="square">
            <a:spAutoFit/>
          </a:bodyPr>
          <a:lstStyle/>
          <a:p>
            <a:pPr>
              <a:defRPr sz="950" b="1">
                <a:solidFill>
                  <a:srgbClr val="1DB954"/>
                </a:solidFill>
                <a:latin typeface="Consolas"/>
              </a:defRPr>
            </a:pPr>
            <a:r>
              <a:t>END-TO-END INVARIANT PIPELINE</a:t>
            </a:r>
          </a:p>
          <a:p>
            <a:pPr>
              <a:defRPr sz="900">
                <a:solidFill>
                  <a:srgbClr val="A1A1AA"/>
                </a:solidFill>
                <a:latin typeface="Segoe UI"/>
              </a:defRPr>
            </a:pPr>
            <a:r>
              <a:t>HTML5 drawing canvas captures base64 strokes; canonical 7-stage Otsu, bounding box crop, and moment centroid alignment eliminate train-inference distribution shift.</a:t>
            </a:r>
          </a:p>
          <a:p>
            <a:pPr>
              <a:defRPr sz="950" b="1">
                <a:solidFill>
                  <a:srgbClr val="1DB954"/>
                </a:solidFill>
                <a:latin typeface="Consolas"/>
              </a:defRPr>
            </a:pPr>
            <a:r>
              <a:t>CONFIDENCE INTELLIGENCE HUD</a:t>
            </a:r>
          </a:p>
          <a:p>
            <a:pPr>
              <a:defRPr sz="900">
                <a:solidFill>
                  <a:srgbClr val="A1A1AA"/>
                </a:solidFill>
                <a:latin typeface="Segoe UI"/>
              </a:defRPr>
            </a:pPr>
            <a:r>
              <a:t>Displays temperature-scaled probabilities (T = 0.9170, ECE = 0.0031), Shannon entropy H(p), and decision margin Delta in real time.</a:t>
            </a:r>
          </a:p>
          <a:p>
            <a:pPr>
              <a:defRPr sz="950" b="1">
                <a:solidFill>
                  <a:srgbClr val="1DB954"/>
                </a:solidFill>
                <a:latin typeface="Consolas"/>
              </a:defRPr>
            </a:pPr>
            <a:r>
              <a:t>REAL-TIME GRAD-CAM SALIENCY</a:t>
            </a:r>
          </a:p>
          <a:p>
            <a:pPr>
              <a:defRPr sz="900">
                <a:solidFill>
                  <a:srgbClr val="A1A1AA"/>
                </a:solidFill>
                <a:latin typeface="Segoe UI"/>
              </a:defRPr>
            </a:pPr>
            <a:r>
              <a:t>Synthesizes visual heatmaps from final conv layer 'conv_cam' within 15 ms of canvas release, visually verifying stroke attribution.</a:t>
            </a:r>
          </a:p>
          <a:p>
            <a:pPr>
              <a:defRPr sz="950" b="1">
                <a:solidFill>
                  <a:srgbClr val="1DB954"/>
                </a:solidFill>
                <a:latin typeface="Consolas"/>
              </a:defRPr>
            </a:pPr>
            <a:r>
              <a:t>STROKE FORENSICS &amp; TELEMETRY</a:t>
            </a:r>
          </a:p>
          <a:p>
            <a:pPr>
              <a:defRPr sz="900">
                <a:solidFill>
                  <a:srgbClr val="A1A1AA"/>
                </a:solidFill>
                <a:latin typeface="Segoe UI"/>
              </a:defRPr>
            </a:pPr>
            <a:r>
              <a:t>Extracts physical stroke density (18-380 px), bounding box aspect ratio, active pixel occupancy, and centroid deviation for each drawing.</a:t>
            </a:r>
          </a:p>
          <a:p>
            <a:pPr>
              <a:defRPr sz="950" b="1">
                <a:solidFill>
                  <a:srgbClr val="1DB954"/>
                </a:solidFill>
                <a:latin typeface="Consolas"/>
              </a:defRPr>
            </a:pPr>
            <a:r>
              <a:t>PROJECT NOVELTY &amp; SCIENTIFIC RIGOR</a:t>
            </a:r>
          </a:p>
          <a:p>
            <a:pPr>
              <a:defRPr sz="900">
                <a:solidFill>
                  <a:srgbClr val="A1A1AA"/>
                </a:solidFill>
                <a:latin typeface="Segoe UI"/>
              </a:defRPr>
            </a:pPr>
            <a:r>
              <a:t>Unlike standard toy classifiers, DigitVision couples mathematical invariance, probabilistic safety, and explainability into an auditable production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20. CONCLUSION + FUTURE SCOPE</a:t>
            </a:r>
          </a:p>
          <a:p>
            <a:pPr>
              <a:defRPr sz="1800" b="1">
                <a:solidFill>
                  <a:srgbClr val="FFFFFF"/>
                </a:solidFill>
                <a:latin typeface="Segoe UI"/>
              </a:defRPr>
            </a:pPr>
            <a:r>
              <a:t>ACHIEVEMENT OF OBJECTIVES &amp; FUTURE RESEARCH SCOPE</a:t>
            </a:r>
          </a:p>
        </p:txBody>
      </p:sp>
      <p:sp>
        <p:nvSpPr>
          <p:cNvPr id="3" name="Rectangle 2"/>
          <p:cNvSpPr/>
          <p:nvPr/>
        </p:nvSpPr>
        <p:spPr>
          <a:xfrm>
            <a:off x="7315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ACHIEVEMENT OF PRE-DEFINED OBJECTIVES</a:t>
            </a:r>
          </a:p>
        </p:txBody>
      </p:sp>
      <p:sp>
        <p:nvSpPr>
          <p:cNvPr id="5" name="TextBox 4"/>
          <p:cNvSpPr txBox="1"/>
          <p:nvPr/>
        </p:nvSpPr>
        <p:spPr>
          <a:xfrm>
            <a:off x="914400" y="1874519"/>
            <a:ext cx="4846320" cy="4114800"/>
          </a:xfrm>
          <a:prstGeom prst="rect">
            <a:avLst/>
          </a:prstGeom>
          <a:noFill/>
        </p:spPr>
        <p:txBody>
          <a:bodyPr wrap="square">
            <a:spAutoFit/>
          </a:bodyPr>
          <a:lstStyle/>
          <a:p>
            <a:pPr>
              <a:defRPr sz="950">
                <a:solidFill>
                  <a:srgbClr val="A1A1AA"/>
                </a:solidFill>
                <a:latin typeface="Segoe UI"/>
              </a:defRPr>
            </a:pPr>
            <a:r>
              <a:t>[ACHIEVED] High-Accuracy Vision: DeepConvNet reached 98.31% accuracy and 0.9831 macro F1 (exceeded &gt;=95% criterion).</a:t>
            </a:r>
          </a:p>
          <a:p>
            <a:pPr>
              <a:defRPr sz="950">
                <a:solidFill>
                  <a:srgbClr val="A1A1AA"/>
                </a:solidFill>
                <a:latin typeface="Segoe UI"/>
              </a:defRPr>
            </a:pPr>
            <a:r>
              <a:t>[ACHIEVED] Canonical Invariant: Eliminated train-inference skew via 7-stage Otsu &amp; moment centroid pipeline.</a:t>
            </a:r>
          </a:p>
          <a:p>
            <a:pPr>
              <a:defRPr sz="950">
                <a:solidFill>
                  <a:srgbClr val="A1A1AA"/>
                </a:solidFill>
                <a:latin typeface="Segoe UI"/>
              </a:defRPr>
            </a:pPr>
            <a:r>
              <a:t>[ACHIEVED] Multi-Model Benchmark: Validated 7 diverse models with 100% zero-fabrication empirical data.</a:t>
            </a:r>
          </a:p>
          <a:p>
            <a:pPr>
              <a:defRPr sz="950">
                <a:solidFill>
                  <a:srgbClr val="A1A1AA"/>
                </a:solidFill>
                <a:latin typeface="Segoe UI"/>
              </a:defRPr>
            </a:pPr>
            <a:r>
              <a:t>[ACHIEVED] Probabilistic Safety: Temperature scaling (T = 0.9170) minimized ECE; entropy thresholds reject OOD noise.</a:t>
            </a:r>
          </a:p>
          <a:p>
            <a:pPr>
              <a:defRPr sz="950">
                <a:solidFill>
                  <a:srgbClr val="A1A1AA"/>
                </a:solidFill>
                <a:latin typeface="Segoe UI"/>
              </a:defRPr>
            </a:pPr>
            <a:r>
              <a:t>[ACHIEVED] Visual Explainability: Real-time Grad-CAM saliency heatmaps verify stroke attribution.</a:t>
            </a:r>
          </a:p>
          <a:p>
            <a:pPr>
              <a:defRPr sz="950">
                <a:solidFill>
                  <a:srgbClr val="A1A1AA"/>
                </a:solidFill>
                <a:latin typeface="Segoe UI"/>
              </a:defRPr>
            </a:pPr>
            <a:r>
              <a:t>[ACHIEVED] Interactive Mission Control: Full-stack FastAPI + HTML5 canvas web deployment on 127.0.0.1:8000.</a:t>
            </a:r>
          </a:p>
          <a:p>
            <a:pPr>
              <a:defRPr sz="950">
                <a:solidFill>
                  <a:srgbClr val="A1A1AA"/>
                </a:solidFill>
                <a:latin typeface="Segoe UI"/>
              </a:defRPr>
            </a:pPr>
            <a:r>
              <a:t>[ACHIEVED] Rigorous Testing &amp; QA: 33/33 unit tests passing; all 51 institutional report tables synchronized.</a:t>
            </a:r>
          </a:p>
        </p:txBody>
      </p:sp>
      <p:sp>
        <p:nvSpPr>
          <p:cNvPr id="6" name="Rectangle 5"/>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LIMITATIONS &amp; FUTURE RESEARCH SCOPE</a:t>
            </a:r>
          </a:p>
        </p:txBody>
      </p:sp>
      <p:sp>
        <p:nvSpPr>
          <p:cNvPr id="8" name="TextBox 7"/>
          <p:cNvSpPr txBox="1"/>
          <p:nvPr/>
        </p:nvSpPr>
        <p:spPr>
          <a:xfrm>
            <a:off x="6400800" y="1874519"/>
            <a:ext cx="4846320" cy="4114800"/>
          </a:xfrm>
          <a:prstGeom prst="rect">
            <a:avLst/>
          </a:prstGeom>
          <a:noFill/>
        </p:spPr>
        <p:txBody>
          <a:bodyPr wrap="square">
            <a:spAutoFit/>
          </a:bodyPr>
          <a:lstStyle/>
          <a:p>
            <a:pPr>
              <a:defRPr sz="1000">
                <a:solidFill>
                  <a:srgbClr val="A1A1AA"/>
                </a:solidFill>
                <a:latin typeface="Segoe UI"/>
              </a:defRPr>
            </a:pPr>
            <a:r>
              <a:t>•  Current Limitation: Trained on standard monochromatic digits; domain adaptation on diverse touchscreen styluses requires continuous calibration.</a:t>
            </a:r>
          </a:p>
          <a:p>
            <a:pPr>
              <a:defRPr sz="1000">
                <a:solidFill>
                  <a:srgbClr val="A1A1AA"/>
                </a:solidFill>
                <a:latin typeface="Segoe UI"/>
              </a:defRPr>
            </a:pPr>
            <a:r>
              <a:t>•  Edge WebAssembly Deployment: Compile the trained DeepConvNet into ONNX / TensorFlow.js for zero-latency client-side execution.</a:t>
            </a:r>
          </a:p>
          <a:p>
            <a:pPr>
              <a:defRPr sz="1000">
                <a:solidFill>
                  <a:srgbClr val="A1A1AA"/>
                </a:solidFill>
                <a:latin typeface="Segoe UI"/>
              </a:defRPr>
            </a:pPr>
            <a:r>
              <a:t>•  Alphanumeric Extension: Extend from 10 digits to the 62-class EMNIST dataset covering uppercase and lowercase characters.</a:t>
            </a:r>
          </a:p>
          <a:p>
            <a:pPr>
              <a:defRPr sz="1000">
                <a:solidFill>
                  <a:srgbClr val="A1A1AA"/>
                </a:solidFill>
                <a:latin typeface="Segoe UI"/>
              </a:defRPr>
            </a:pPr>
            <a:r>
              <a:t>•  Bayesian Monte Carlo Uncertainty: Integrate Monte Carlo Dropout during inference to capture epistemic vs aleatoric uncertainty.</a:t>
            </a:r>
          </a:p>
          <a:p>
            <a:pPr>
              <a:defRPr sz="1000">
                <a:solidFill>
                  <a:srgbClr val="A1A1AA"/>
                </a:solidFill>
                <a:latin typeface="Segoe UI"/>
              </a:defRPr>
            </a:pPr>
            <a:r>
              <a:t>•  Continuous Active Learning: Implement automated human-in-the-loop review for high-entropy rejected samples.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21. ACADEMIC COURSE OUTCOMES (CO) AUDIT</a:t>
            </a:r>
          </a:p>
          <a:p>
            <a:pPr>
              <a:defRPr sz="1800" b="1">
                <a:solidFill>
                  <a:srgbClr val="FFFFFF"/>
                </a:solidFill>
                <a:latin typeface="Segoe UI"/>
              </a:defRPr>
            </a:pPr>
            <a:r>
              <a:t>COURSE OUTCOMES (CO1–CO6) ALIGNMENT &amp; PROJECT EVIDENCE</a:t>
            </a:r>
          </a:p>
        </p:txBody>
      </p:sp>
      <p:sp>
        <p:nvSpPr>
          <p:cNvPr id="3" name="Rectangle 2"/>
          <p:cNvSpPr/>
          <p:nvPr/>
        </p:nvSpPr>
        <p:spPr>
          <a:xfrm>
            <a:off x="7315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CO1, CO2, CO3 — FOUNDATIONS &amp; SUPERVISED LEARNING</a:t>
            </a:r>
          </a:p>
        </p:txBody>
      </p:sp>
      <p:sp>
        <p:nvSpPr>
          <p:cNvPr id="5" name="TextBox 4"/>
          <p:cNvSpPr txBox="1"/>
          <p:nvPr/>
        </p:nvSpPr>
        <p:spPr>
          <a:xfrm>
            <a:off x="914400" y="1828800"/>
            <a:ext cx="4846320" cy="4206240"/>
          </a:xfrm>
          <a:prstGeom prst="rect">
            <a:avLst/>
          </a:prstGeom>
          <a:noFill/>
        </p:spPr>
        <p:txBody>
          <a:bodyPr wrap="square">
            <a:spAutoFit/>
          </a:bodyPr>
          <a:lstStyle/>
          <a:p>
            <a:pPr>
              <a:defRPr sz="1000" b="1">
                <a:solidFill>
                  <a:srgbClr val="1DB954"/>
                </a:solidFill>
                <a:latin typeface="Consolas"/>
              </a:defRPr>
            </a:pPr>
            <a:r>
              <a:t>CO1 (L3) · CENTRAL TENDENCY &amp; DISPERSION</a:t>
            </a:r>
          </a:p>
          <a:p>
            <a:pPr>
              <a:defRPr sz="850">
                <a:solidFill>
                  <a:srgbClr val="A1A1AA"/>
                </a:solidFill>
                <a:latin typeface="Segoe UI"/>
              </a:defRPr>
            </a:pPr>
            <a:r>
              <a:t>μ = 0.1307, σ = 0.3081 across 70,000 image tensors; per-class counts and background sparsity (&gt;80%).</a:t>
            </a:r>
            <a:br/>
            <a:r>
              <a:t>Evidence: src/data/dataset.py, src/data/eda.py</a:t>
            </a:r>
            <a:br/>
            <a:r>
              <a:t>Status: Fully Demonstrated [Pending Faculty CIE Assessment]</a:t>
            </a:r>
            <a:br/>
          </a:p>
          <a:p>
            <a:pPr>
              <a:defRPr sz="1000" b="1">
                <a:solidFill>
                  <a:srgbClr val="1DB954"/>
                </a:solidFill>
                <a:latin typeface="Consolas"/>
              </a:defRPr>
            </a:pPr>
            <a:r>
              <a:t>CO2 (L3) · SCIENTIFIC PYTHON &amp; EDA</a:t>
            </a:r>
          </a:p>
          <a:p>
            <a:pPr>
              <a:defRPr sz="850">
                <a:solidFill>
                  <a:srgbClr val="A1A1AA"/>
                </a:solidFill>
                <a:latin typeface="Segoe UI"/>
              </a:defRPr>
            </a:pPr>
            <a:r>
              <a:t>NumPy 784-D arrays, SciPy spatial metrics, Pandas data dictionaries, Matplotlib &amp; Seaborn plots.</a:t>
            </a:r>
            <a:br/>
            <a:r>
              <a:t>Evidence: 5 publication EDA figures (10×10 grid, bimodal histograms, stroke spines).</a:t>
            </a:r>
            <a:br/>
            <a:r>
              <a:t>Status: Fully Demonstrated [Pending Faculty CIE Assessment]</a:t>
            </a:r>
            <a:br/>
          </a:p>
          <a:p>
            <a:pPr>
              <a:defRPr sz="1000" b="1">
                <a:solidFill>
                  <a:srgbClr val="FFB000"/>
                </a:solidFill>
                <a:latin typeface="Consolas"/>
              </a:defRPr>
            </a:pPr>
            <a:r>
              <a:t>CO3 (L4) · SUPERVISED LEARNING ALGORITHMS</a:t>
            </a:r>
          </a:p>
          <a:p>
            <a:pPr>
              <a:defRPr sz="850">
                <a:solidFill>
                  <a:srgbClr val="A1A1AA"/>
                </a:solidFill>
                <a:latin typeface="Segoe UI"/>
              </a:defRPr>
            </a:pPr>
            <a:r>
              <a:t>L2 Multinomial Logistic Regression (91.49%) and Random Forest (95.48%) classical baselines.</a:t>
            </a:r>
            <a:br/>
            <a:r>
              <a:t>Rationale: Linear Reg &amp; KNN omitted (discrete 10-class task; latency &lt;10 ms requirement).</a:t>
            </a:r>
            <a:br/>
            <a:r>
              <a:t>Status: Substantially Demonstrated [Pending Faculty CIE Assessment]</a:t>
            </a:r>
            <a:br/>
          </a:p>
        </p:txBody>
      </p:sp>
      <p:sp>
        <p:nvSpPr>
          <p:cNvPr id="6" name="Rectangle 5"/>
          <p:cNvSpPr/>
          <p:nvPr/>
        </p:nvSpPr>
        <p:spPr>
          <a:xfrm>
            <a:off x="6217920" y="1371600"/>
            <a:ext cx="5212080" cy="484632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08760"/>
            <a:ext cx="4846320" cy="320040"/>
          </a:xfrm>
          <a:prstGeom prst="rect">
            <a:avLst/>
          </a:prstGeom>
          <a:noFill/>
        </p:spPr>
        <p:txBody>
          <a:bodyPr wrap="square" lIns="0" tIns="0" rIns="0" bIns="0">
            <a:spAutoFit/>
          </a:bodyPr>
          <a:lstStyle/>
          <a:p>
            <a:pPr>
              <a:defRPr sz="1000" b="1">
                <a:solidFill>
                  <a:srgbClr val="A1A1AA"/>
                </a:solidFill>
                <a:latin typeface="Consolas"/>
              </a:defRPr>
            </a:pPr>
            <a:r>
              <a:t>CO4, CO5, CO6 — TUNING, UNSUPERVISED &amp; CAPSTONE</a:t>
            </a:r>
          </a:p>
        </p:txBody>
      </p:sp>
      <p:sp>
        <p:nvSpPr>
          <p:cNvPr id="8" name="TextBox 7"/>
          <p:cNvSpPr txBox="1"/>
          <p:nvPr/>
        </p:nvSpPr>
        <p:spPr>
          <a:xfrm>
            <a:off x="6400800" y="1828800"/>
            <a:ext cx="4846320" cy="4206240"/>
          </a:xfrm>
          <a:prstGeom prst="rect">
            <a:avLst/>
          </a:prstGeom>
          <a:noFill/>
        </p:spPr>
        <p:txBody>
          <a:bodyPr wrap="square">
            <a:spAutoFit/>
          </a:bodyPr>
          <a:lstStyle/>
          <a:p>
            <a:pPr>
              <a:defRPr sz="1000" b="1">
                <a:solidFill>
                  <a:srgbClr val="1DB954"/>
                </a:solidFill>
                <a:latin typeface="Consolas"/>
              </a:defRPr>
            </a:pPr>
            <a:r>
              <a:t>CO4 (L4) · PARAMETER TUNING &amp; EVALUATION</a:t>
            </a:r>
          </a:p>
          <a:p>
            <a:pPr>
              <a:defRPr sz="850">
                <a:solidFill>
                  <a:srgbClr val="A1A1AA"/>
                </a:solidFill>
                <a:latin typeface="Segoe UI"/>
              </a:defRPr>
            </a:pPr>
            <a:r>
              <a:t>7 metrics (Acc, Prec, Rec, F1, Loss, ECE, Latency), scikit-learn classification reports, ROC/PR curves.</a:t>
            </a:r>
            <a:br/>
            <a:r>
              <a:t>Temperature scaling (T = 0.9170, ECE reduced to 0.0031).</a:t>
            </a:r>
            <a:br/>
            <a:r>
              <a:t>Evidence: src/evaluation/metrics.py, src/evaluation/calibration.py</a:t>
            </a:r>
            <a:br/>
            <a:r>
              <a:t>Status: Fully Demonstrated [Pending Faculty CIE Assessment]</a:t>
            </a:r>
            <a:br/>
          </a:p>
          <a:p>
            <a:pPr>
              <a:defRPr sz="1000" b="1">
                <a:solidFill>
                  <a:srgbClr val="1DB954"/>
                </a:solidFill>
                <a:latin typeface="Consolas"/>
              </a:defRPr>
            </a:pPr>
            <a:r>
              <a:t>CO5 (L4) · UNSUPERVISED CLUSTERING (K-MEANS)</a:t>
            </a:r>
          </a:p>
          <a:p>
            <a:pPr>
              <a:defRPr sz="850">
                <a:solidFill>
                  <a:srgbClr val="A1A1AA"/>
                </a:solidFill>
                <a:latin typeface="Segoe UI"/>
              </a:defRPr>
            </a:pPr>
            <a:r>
              <a:t>K = 10 clustering on 10,000 samples (Inertia: 389,394.88, V-Measure: 0.5017, Purity: 58.87%).</a:t>
            </a:r>
            <a:br/>
            <a:r>
              <a:t>Centroids: Cluster 4 (digit 0: 92.71% purity), Cluster 3 (digit 6: 89.48%).</a:t>
            </a:r>
            <a:br/>
            <a:r>
              <a:t>Evidence: src/evaluation/clustering.py, Fig 3.3</a:t>
            </a:r>
            <a:br/>
            <a:r>
              <a:t>Status: Fully Demonstrated [Pending Faculty CIE Assessment]</a:t>
            </a:r>
            <a:br/>
          </a:p>
          <a:p>
            <a:pPr>
              <a:defRPr sz="1000" b="1">
                <a:solidFill>
                  <a:srgbClr val="1DB954"/>
                </a:solidFill>
                <a:latin typeface="Consolas"/>
              </a:defRPr>
            </a:pPr>
            <a:r>
              <a:t>CO6 (L5) · COMPARATIVE CLASSIFICATION CAPSTONE</a:t>
            </a:r>
          </a:p>
          <a:p>
            <a:pPr>
              <a:defRPr sz="850">
                <a:solidFill>
                  <a:srgbClr val="A1A1AA"/>
                </a:solidFill>
                <a:latin typeface="Segoe UI"/>
              </a:defRPr>
            </a:pPr>
            <a:r>
              <a:t>7-model benchmark (Baseline to DeepConvNet at 98.31% acc); dual-block CNN with GAP &amp; Grad-CAM XAI.</a:t>
            </a:r>
            <a:br/>
            <a:r>
              <a:t>FastAPI async backend + HTML5 canvas HUD. 33/33 tests passing.</a:t>
            </a:r>
            <a:br/>
            <a:r>
              <a:t>Evidence: src/evaluation/benchmark.py, main.py</a:t>
            </a:r>
            <a:br/>
            <a:r>
              <a:t>Status: Fully Demonstrated [Pending Faculty CIE Assessment]</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900" b="1">
                <a:solidFill>
                  <a:srgbClr val="1DB954"/>
                </a:solidFill>
                <a:latin typeface="Consolas"/>
              </a:defRPr>
            </a:pPr>
            <a:r>
              <a:t>22. NBA OUTCOME ALIGNMENT &amp; CORRELATION MATRIX</a:t>
            </a:r>
          </a:p>
          <a:p>
            <a:pPr>
              <a:defRPr sz="1800" b="1">
                <a:solidFill>
                  <a:srgbClr val="FFFFFF"/>
                </a:solidFill>
                <a:latin typeface="Segoe UI"/>
              </a:defRPr>
            </a:pPr>
            <a:r>
              <a:t>NBA SAR TIER-I CO–PO MAPPING MATRIX &amp; EMPIRICAL JUSTIFICATION</a:t>
            </a:r>
          </a:p>
        </p:txBody>
      </p:sp>
      <p:graphicFrame>
        <p:nvGraphicFramePr>
          <p:cNvPr id="3" name="Table 2"/>
          <p:cNvGraphicFramePr>
            <a:graphicFrameLocks noGrp="1"/>
          </p:cNvGraphicFramePr>
          <p:nvPr/>
        </p:nvGraphicFramePr>
        <p:xfrm>
          <a:off x="731520" y="1280160"/>
          <a:ext cx="10698480" cy="2468880"/>
        </p:xfrm>
        <a:graphic>
          <a:graphicData uri="http://schemas.openxmlformats.org/drawingml/2006/table">
            <a:tbl>
              <a:tblPr firstRow="1" bandRow="1">
                <a:tableStyleId>{5C22544A-7EE6-4342-B048-85BDC9FD1C3A}</a:tableStyleId>
              </a:tblPr>
              <a:tblGrid>
                <a:gridCol w="764177"/>
                <a:gridCol w="764177"/>
                <a:gridCol w="764177"/>
                <a:gridCol w="764177"/>
                <a:gridCol w="764177"/>
                <a:gridCol w="764177"/>
                <a:gridCol w="764177"/>
                <a:gridCol w="764177"/>
                <a:gridCol w="764177"/>
                <a:gridCol w="764177"/>
                <a:gridCol w="764177"/>
                <a:gridCol w="764177"/>
                <a:gridCol w="764177"/>
                <a:gridCol w="764179"/>
              </a:tblGrid>
              <a:tr h="308610">
                <a:tc>
                  <a:txBody>
                    <a:bodyPr/>
                    <a:lstStyle/>
                    <a:p>
                      <a:pPr algn="ctr"/>
                      <a:r>
                        <a:rPr sz="900" b="1">
                          <a:solidFill>
                            <a:srgbClr val="FFFFFF"/>
                          </a:solidFill>
                          <a:latin typeface="Segoe UI"/>
                        </a:rPr>
                        <a:t>CO</a:t>
                      </a:r>
                    </a:p>
                  </a:txBody>
                  <a:tcPr>
                    <a:solidFill>
                      <a:srgbClr val="181818"/>
                    </a:solidFill>
                  </a:tcPr>
                </a:tc>
                <a:tc>
                  <a:txBody>
                    <a:bodyPr/>
                    <a:lstStyle/>
                    <a:p>
                      <a:pPr algn="ctr"/>
                      <a:r>
                        <a:rPr sz="900" b="1">
                          <a:solidFill>
                            <a:srgbClr val="FFFFFF"/>
                          </a:solidFill>
                          <a:latin typeface="Segoe UI"/>
                        </a:rPr>
                        <a:t>PO1</a:t>
                      </a:r>
                    </a:p>
                  </a:txBody>
                  <a:tcPr>
                    <a:solidFill>
                      <a:srgbClr val="181818"/>
                    </a:solidFill>
                  </a:tcPr>
                </a:tc>
                <a:tc>
                  <a:txBody>
                    <a:bodyPr/>
                    <a:lstStyle/>
                    <a:p>
                      <a:pPr algn="ctr"/>
                      <a:r>
                        <a:rPr sz="900" b="1">
                          <a:solidFill>
                            <a:srgbClr val="FFFFFF"/>
                          </a:solidFill>
                          <a:latin typeface="Segoe UI"/>
                        </a:rPr>
                        <a:t>PO2</a:t>
                      </a:r>
                    </a:p>
                  </a:txBody>
                  <a:tcPr>
                    <a:solidFill>
                      <a:srgbClr val="181818"/>
                    </a:solidFill>
                  </a:tcPr>
                </a:tc>
                <a:tc>
                  <a:txBody>
                    <a:bodyPr/>
                    <a:lstStyle/>
                    <a:p>
                      <a:pPr algn="ctr"/>
                      <a:r>
                        <a:rPr sz="900" b="1">
                          <a:solidFill>
                            <a:srgbClr val="FFFFFF"/>
                          </a:solidFill>
                          <a:latin typeface="Segoe UI"/>
                        </a:rPr>
                        <a:t>PO3</a:t>
                      </a:r>
                    </a:p>
                  </a:txBody>
                  <a:tcPr>
                    <a:solidFill>
                      <a:srgbClr val="181818"/>
                    </a:solidFill>
                  </a:tcPr>
                </a:tc>
                <a:tc>
                  <a:txBody>
                    <a:bodyPr/>
                    <a:lstStyle/>
                    <a:p>
                      <a:pPr algn="ctr"/>
                      <a:r>
                        <a:rPr sz="900" b="1">
                          <a:solidFill>
                            <a:srgbClr val="FFFFFF"/>
                          </a:solidFill>
                          <a:latin typeface="Segoe UI"/>
                        </a:rPr>
                        <a:t>PO4</a:t>
                      </a:r>
                    </a:p>
                  </a:txBody>
                  <a:tcPr>
                    <a:solidFill>
                      <a:srgbClr val="181818"/>
                    </a:solidFill>
                  </a:tcPr>
                </a:tc>
                <a:tc>
                  <a:txBody>
                    <a:bodyPr/>
                    <a:lstStyle/>
                    <a:p>
                      <a:pPr algn="ctr"/>
                      <a:r>
                        <a:rPr sz="900" b="1">
                          <a:solidFill>
                            <a:srgbClr val="FFFFFF"/>
                          </a:solidFill>
                          <a:latin typeface="Segoe UI"/>
                        </a:rPr>
                        <a:t>PO5</a:t>
                      </a:r>
                    </a:p>
                  </a:txBody>
                  <a:tcPr>
                    <a:solidFill>
                      <a:srgbClr val="181818"/>
                    </a:solidFill>
                  </a:tcPr>
                </a:tc>
                <a:tc>
                  <a:txBody>
                    <a:bodyPr/>
                    <a:lstStyle/>
                    <a:p>
                      <a:pPr algn="ctr"/>
                      <a:r>
                        <a:rPr sz="900" b="1">
                          <a:solidFill>
                            <a:srgbClr val="FFFFFF"/>
                          </a:solidFill>
                          <a:latin typeface="Segoe UI"/>
                        </a:rPr>
                        <a:t>PO6</a:t>
                      </a:r>
                    </a:p>
                  </a:txBody>
                  <a:tcPr>
                    <a:solidFill>
                      <a:srgbClr val="181818"/>
                    </a:solidFill>
                  </a:tcPr>
                </a:tc>
                <a:tc>
                  <a:txBody>
                    <a:bodyPr/>
                    <a:lstStyle/>
                    <a:p>
                      <a:pPr algn="ctr"/>
                      <a:r>
                        <a:rPr sz="900" b="1">
                          <a:solidFill>
                            <a:srgbClr val="FFFFFF"/>
                          </a:solidFill>
                          <a:latin typeface="Segoe UI"/>
                        </a:rPr>
                        <a:t>PO7</a:t>
                      </a:r>
                    </a:p>
                  </a:txBody>
                  <a:tcPr>
                    <a:solidFill>
                      <a:srgbClr val="181818"/>
                    </a:solidFill>
                  </a:tcPr>
                </a:tc>
                <a:tc>
                  <a:txBody>
                    <a:bodyPr/>
                    <a:lstStyle/>
                    <a:p>
                      <a:pPr algn="ctr"/>
                      <a:r>
                        <a:rPr sz="900" b="1">
                          <a:solidFill>
                            <a:srgbClr val="FFFFFF"/>
                          </a:solidFill>
                          <a:latin typeface="Segoe UI"/>
                        </a:rPr>
                        <a:t>PO8</a:t>
                      </a:r>
                    </a:p>
                  </a:txBody>
                  <a:tcPr>
                    <a:solidFill>
                      <a:srgbClr val="181818"/>
                    </a:solidFill>
                  </a:tcPr>
                </a:tc>
                <a:tc>
                  <a:txBody>
                    <a:bodyPr/>
                    <a:lstStyle/>
                    <a:p>
                      <a:pPr algn="ctr"/>
                      <a:r>
                        <a:rPr sz="900" b="1">
                          <a:solidFill>
                            <a:srgbClr val="FFFFFF"/>
                          </a:solidFill>
                          <a:latin typeface="Segoe UI"/>
                        </a:rPr>
                        <a:t>PO9</a:t>
                      </a:r>
                    </a:p>
                  </a:txBody>
                  <a:tcPr>
                    <a:solidFill>
                      <a:srgbClr val="181818"/>
                    </a:solidFill>
                  </a:tcPr>
                </a:tc>
                <a:tc>
                  <a:txBody>
                    <a:bodyPr/>
                    <a:lstStyle/>
                    <a:p>
                      <a:pPr algn="ctr"/>
                      <a:r>
                        <a:rPr sz="900" b="1">
                          <a:solidFill>
                            <a:srgbClr val="FFFFFF"/>
                          </a:solidFill>
                          <a:latin typeface="Segoe UI"/>
                        </a:rPr>
                        <a:t>PO10</a:t>
                      </a:r>
                    </a:p>
                  </a:txBody>
                  <a:tcPr>
                    <a:solidFill>
                      <a:srgbClr val="181818"/>
                    </a:solidFill>
                  </a:tcPr>
                </a:tc>
                <a:tc>
                  <a:txBody>
                    <a:bodyPr/>
                    <a:lstStyle/>
                    <a:p>
                      <a:pPr algn="ctr"/>
                      <a:r>
                        <a:rPr sz="900" b="1">
                          <a:solidFill>
                            <a:srgbClr val="FFFFFF"/>
                          </a:solidFill>
                          <a:latin typeface="Segoe UI"/>
                        </a:rPr>
                        <a:t>PO11</a:t>
                      </a:r>
                    </a:p>
                  </a:txBody>
                  <a:tcPr>
                    <a:solidFill>
                      <a:srgbClr val="181818"/>
                    </a:solidFill>
                  </a:tcPr>
                </a:tc>
                <a:tc>
                  <a:txBody>
                    <a:bodyPr/>
                    <a:lstStyle/>
                    <a:p>
                      <a:pPr algn="ctr"/>
                      <a:r>
                        <a:rPr sz="900" b="1">
                          <a:solidFill>
                            <a:srgbClr val="FFFFFF"/>
                          </a:solidFill>
                          <a:latin typeface="Segoe UI"/>
                        </a:rPr>
                        <a:t>PSO1</a:t>
                      </a:r>
                    </a:p>
                  </a:txBody>
                  <a:tcPr>
                    <a:solidFill>
                      <a:srgbClr val="181818"/>
                    </a:solidFill>
                  </a:tcPr>
                </a:tc>
                <a:tc>
                  <a:txBody>
                    <a:bodyPr/>
                    <a:lstStyle/>
                    <a:p>
                      <a:pPr algn="ctr"/>
                      <a:r>
                        <a:rPr sz="900" b="1">
                          <a:solidFill>
                            <a:srgbClr val="FFFFFF"/>
                          </a:solidFill>
                          <a:latin typeface="Segoe UI"/>
                        </a:rPr>
                        <a:t>PSO2</a:t>
                      </a:r>
                    </a:p>
                  </a:txBody>
                  <a:tcPr>
                    <a:solidFill>
                      <a:srgbClr val="181818"/>
                    </a:solidFill>
                  </a:tcPr>
                </a:tc>
              </a:tr>
              <a:tr h="308610">
                <a:tc>
                  <a:txBody>
                    <a:bodyPr/>
                    <a:lstStyle/>
                    <a:p>
                      <a:pPr algn="ctr"/>
                      <a:r>
                        <a:rPr sz="950" b="0">
                          <a:solidFill>
                            <a:srgbClr val="FFFFFF"/>
                          </a:solidFill>
                          <a:latin typeface="Consolas"/>
                        </a:rPr>
                        <a:t>CO1</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r>
              <a:tr h="308610">
                <a:tc>
                  <a:txBody>
                    <a:bodyPr/>
                    <a:lstStyle/>
                    <a:p>
                      <a:pPr algn="ctr"/>
                      <a:r>
                        <a:rPr sz="950" b="0">
                          <a:solidFill>
                            <a:srgbClr val="FFFFFF"/>
                          </a:solidFill>
                          <a:latin typeface="Consolas"/>
                        </a:rPr>
                        <a:t>CO2</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r>
              <a:tr h="308610">
                <a:tc>
                  <a:txBody>
                    <a:bodyPr/>
                    <a:lstStyle/>
                    <a:p>
                      <a:pPr algn="ctr"/>
                      <a:r>
                        <a:rPr sz="950" b="0">
                          <a:solidFill>
                            <a:srgbClr val="FFFFFF"/>
                          </a:solidFill>
                          <a:latin typeface="Consolas"/>
                        </a:rPr>
                        <a:t>CO3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r>
              <a:tr h="308610">
                <a:tc>
                  <a:txBody>
                    <a:bodyPr/>
                    <a:lstStyle/>
                    <a:p>
                      <a:pPr algn="ctr"/>
                      <a:r>
                        <a:rPr sz="950" b="0">
                          <a:solidFill>
                            <a:srgbClr val="FFFFFF"/>
                          </a:solidFill>
                          <a:latin typeface="Consolas"/>
                        </a:rPr>
                        <a:t>CO4</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r>
              <a:tr h="308610">
                <a:tc>
                  <a:txBody>
                    <a:bodyPr/>
                    <a:lstStyle/>
                    <a:p>
                      <a:pPr algn="ctr"/>
                      <a:r>
                        <a:rPr sz="950" b="0">
                          <a:solidFill>
                            <a:srgbClr val="FFFFFF"/>
                          </a:solidFill>
                          <a:latin typeface="Consolas"/>
                        </a:rPr>
                        <a:t>CO5</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737373"/>
                          </a:solidFill>
                          <a:latin typeface="Consolas"/>
                        </a:rPr>
                        <a:t>—</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r>
              <a:tr h="308610">
                <a:tc>
                  <a:txBody>
                    <a:bodyPr/>
                    <a:lstStyle/>
                    <a:p>
                      <a:pPr algn="ctr"/>
                      <a:r>
                        <a:rPr sz="950" b="0">
                          <a:solidFill>
                            <a:srgbClr val="FFFFFF"/>
                          </a:solidFill>
                          <a:latin typeface="Consolas"/>
                        </a:rPr>
                        <a:t>CO6</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FFB000"/>
                          </a:solidFill>
                          <a:latin typeface="Consolas"/>
                        </a:rPr>
                        <a:t>2</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c>
                  <a:txBody>
                    <a:bodyPr/>
                    <a:lstStyle/>
                    <a:p>
                      <a:pPr algn="ctr"/>
                      <a:r>
                        <a:rPr sz="950" b="0">
                          <a:solidFill>
                            <a:srgbClr val="1DB954"/>
                          </a:solidFill>
                          <a:latin typeface="Consolas"/>
                        </a:rPr>
                        <a:t>3</a:t>
                      </a:r>
                    </a:p>
                  </a:txBody>
                  <a:tcPr>
                    <a:solidFill>
                      <a:srgbClr val="0A0A0A"/>
                    </a:solidFill>
                  </a:tcPr>
                </a:tc>
              </a:tr>
              <a:tr h="308610">
                <a:tc>
                  <a:txBody>
                    <a:bodyPr/>
                    <a:lstStyle/>
                    <a:p>
                      <a:pPr algn="ctr"/>
                      <a:r>
                        <a:rPr sz="950" b="1">
                          <a:solidFill>
                            <a:srgbClr val="1DB954"/>
                          </a:solidFill>
                          <a:latin typeface="Consolas"/>
                        </a:rPr>
                        <a:t>Avg</a:t>
                      </a:r>
                    </a:p>
                  </a:txBody>
                  <a:tcPr>
                    <a:solidFill>
                      <a:srgbClr val="121212"/>
                    </a:solidFill>
                  </a:tcPr>
                </a:tc>
                <a:tc>
                  <a:txBody>
                    <a:bodyPr/>
                    <a:lstStyle/>
                    <a:p>
                      <a:pPr algn="ctr"/>
                      <a:r>
                        <a:rPr sz="950" b="1">
                          <a:solidFill>
                            <a:srgbClr val="1DB954"/>
                          </a:solidFill>
                          <a:latin typeface="Consolas"/>
                        </a:rPr>
                        <a:t>2.83</a:t>
                      </a:r>
                    </a:p>
                  </a:txBody>
                  <a:tcPr>
                    <a:solidFill>
                      <a:srgbClr val="121212"/>
                    </a:solidFill>
                  </a:tcPr>
                </a:tc>
                <a:tc>
                  <a:txBody>
                    <a:bodyPr/>
                    <a:lstStyle/>
                    <a:p>
                      <a:pPr algn="ctr"/>
                      <a:r>
                        <a:rPr sz="950" b="1">
                          <a:solidFill>
                            <a:srgbClr val="1DB954"/>
                          </a:solidFill>
                          <a:latin typeface="Consolas"/>
                        </a:rPr>
                        <a:t>2.67</a:t>
                      </a:r>
                    </a:p>
                  </a:txBody>
                  <a:tcPr>
                    <a:solidFill>
                      <a:srgbClr val="121212"/>
                    </a:solidFill>
                  </a:tcPr>
                </a:tc>
                <a:tc>
                  <a:txBody>
                    <a:bodyPr/>
                    <a:lstStyle/>
                    <a:p>
                      <a:pPr algn="ctr"/>
                      <a:r>
                        <a:rPr sz="950" b="1">
                          <a:solidFill>
                            <a:srgbClr val="1DB954"/>
                          </a:solidFill>
                          <a:latin typeface="Consolas"/>
                        </a:rPr>
                        <a:t>3.00</a:t>
                      </a:r>
                    </a:p>
                  </a:txBody>
                  <a:tcPr>
                    <a:solidFill>
                      <a:srgbClr val="121212"/>
                    </a:solidFill>
                  </a:tcPr>
                </a:tc>
                <a:tc>
                  <a:txBody>
                    <a:bodyPr/>
                    <a:lstStyle/>
                    <a:p>
                      <a:pPr algn="ctr"/>
                      <a:r>
                        <a:rPr sz="950" b="1">
                          <a:solidFill>
                            <a:srgbClr val="1DB954"/>
                          </a:solidFill>
                          <a:latin typeface="Consolas"/>
                        </a:rPr>
                        <a:t>2.60</a:t>
                      </a:r>
                    </a:p>
                  </a:txBody>
                  <a:tcPr>
                    <a:solidFill>
                      <a:srgbClr val="121212"/>
                    </a:solidFill>
                  </a:tcPr>
                </a:tc>
                <a:tc>
                  <a:txBody>
                    <a:bodyPr/>
                    <a:lstStyle/>
                    <a:p>
                      <a:pPr algn="ctr"/>
                      <a:r>
                        <a:rPr sz="950" b="1">
                          <a:solidFill>
                            <a:srgbClr val="1DB954"/>
                          </a:solidFill>
                          <a:latin typeface="Consolas"/>
                        </a:rPr>
                        <a:t>2.83</a:t>
                      </a:r>
                    </a:p>
                  </a:txBody>
                  <a:tcPr>
                    <a:solidFill>
                      <a:srgbClr val="121212"/>
                    </a:solidFill>
                  </a:tcPr>
                </a:tc>
                <a:tc>
                  <a:txBody>
                    <a:bodyPr/>
                    <a:lstStyle/>
                    <a:p>
                      <a:pPr algn="ctr"/>
                      <a:r>
                        <a:rPr sz="950" b="1">
                          <a:solidFill>
                            <a:srgbClr val="1DB954"/>
                          </a:solidFill>
                          <a:latin typeface="Consolas"/>
                        </a:rPr>
                        <a:t>2.00</a:t>
                      </a:r>
                    </a:p>
                  </a:txBody>
                  <a:tcPr>
                    <a:solidFill>
                      <a:srgbClr val="121212"/>
                    </a:solidFill>
                  </a:tcPr>
                </a:tc>
                <a:tc>
                  <a:txBody>
                    <a:bodyPr/>
                    <a:lstStyle/>
                    <a:p>
                      <a:pPr algn="ctr"/>
                      <a:r>
                        <a:rPr sz="950" b="1">
                          <a:solidFill>
                            <a:srgbClr val="1DB954"/>
                          </a:solidFill>
                          <a:latin typeface="Consolas"/>
                        </a:rPr>
                        <a:t>2.00</a:t>
                      </a:r>
                    </a:p>
                  </a:txBody>
                  <a:tcPr>
                    <a:solidFill>
                      <a:srgbClr val="121212"/>
                    </a:solidFill>
                  </a:tcPr>
                </a:tc>
                <a:tc>
                  <a:txBody>
                    <a:bodyPr/>
                    <a:lstStyle/>
                    <a:p>
                      <a:pPr algn="ctr"/>
                      <a:r>
                        <a:rPr sz="950" b="1">
                          <a:solidFill>
                            <a:srgbClr val="1DB954"/>
                          </a:solidFill>
                          <a:latin typeface="Consolas"/>
                        </a:rPr>
                        <a:t>2.50</a:t>
                      </a:r>
                    </a:p>
                  </a:txBody>
                  <a:tcPr>
                    <a:solidFill>
                      <a:srgbClr val="121212"/>
                    </a:solidFill>
                  </a:tcPr>
                </a:tc>
                <a:tc>
                  <a:txBody>
                    <a:bodyPr/>
                    <a:lstStyle/>
                    <a:p>
                      <a:pPr algn="ctr"/>
                      <a:r>
                        <a:rPr sz="950" b="1">
                          <a:solidFill>
                            <a:srgbClr val="1DB954"/>
                          </a:solidFill>
                          <a:latin typeface="Consolas"/>
                        </a:rPr>
                        <a:t>2.33</a:t>
                      </a:r>
                    </a:p>
                  </a:txBody>
                  <a:tcPr>
                    <a:solidFill>
                      <a:srgbClr val="121212"/>
                    </a:solidFill>
                  </a:tcPr>
                </a:tc>
                <a:tc>
                  <a:txBody>
                    <a:bodyPr/>
                    <a:lstStyle/>
                    <a:p>
                      <a:pPr algn="ctr"/>
                      <a:r>
                        <a:rPr sz="950" b="1">
                          <a:solidFill>
                            <a:srgbClr val="1DB954"/>
                          </a:solidFill>
                          <a:latin typeface="Consolas"/>
                        </a:rPr>
                        <a:t>2.00</a:t>
                      </a:r>
                    </a:p>
                  </a:txBody>
                  <a:tcPr>
                    <a:solidFill>
                      <a:srgbClr val="121212"/>
                    </a:solidFill>
                  </a:tcPr>
                </a:tc>
                <a:tc>
                  <a:txBody>
                    <a:bodyPr/>
                    <a:lstStyle/>
                    <a:p>
                      <a:pPr algn="ctr"/>
                      <a:r>
                        <a:rPr sz="950" b="1">
                          <a:solidFill>
                            <a:srgbClr val="1DB954"/>
                          </a:solidFill>
                          <a:latin typeface="Consolas"/>
                        </a:rPr>
                        <a:t>3.00</a:t>
                      </a:r>
                    </a:p>
                  </a:txBody>
                  <a:tcPr>
                    <a:solidFill>
                      <a:srgbClr val="121212"/>
                    </a:solidFill>
                  </a:tcPr>
                </a:tc>
                <a:tc>
                  <a:txBody>
                    <a:bodyPr/>
                    <a:lstStyle/>
                    <a:p>
                      <a:pPr algn="ctr"/>
                      <a:r>
                        <a:rPr sz="950" b="1">
                          <a:solidFill>
                            <a:srgbClr val="1DB954"/>
                          </a:solidFill>
                          <a:latin typeface="Consolas"/>
                        </a:rPr>
                        <a:t>2.83</a:t>
                      </a:r>
                    </a:p>
                  </a:txBody>
                  <a:tcPr>
                    <a:solidFill>
                      <a:srgbClr val="121212"/>
                    </a:solidFill>
                  </a:tcPr>
                </a:tc>
                <a:tc>
                  <a:txBody>
                    <a:bodyPr/>
                    <a:lstStyle/>
                    <a:p>
                      <a:pPr algn="ctr"/>
                      <a:r>
                        <a:rPr sz="950" b="1">
                          <a:solidFill>
                            <a:srgbClr val="1DB954"/>
                          </a:solidFill>
                          <a:latin typeface="Consolas"/>
                        </a:rPr>
                        <a:t>2.67</a:t>
                      </a:r>
                    </a:p>
                  </a:txBody>
                  <a:tcPr>
                    <a:solidFill>
                      <a:srgbClr val="121212"/>
                    </a:solidFill>
                  </a:tcPr>
                </a:tc>
              </a:tr>
            </a:tbl>
          </a:graphicData>
        </a:graphic>
      </p:graphicFrame>
      <p:sp>
        <p:nvSpPr>
          <p:cNvPr id="4" name="Rectangle 3"/>
          <p:cNvSpPr/>
          <p:nvPr/>
        </p:nvSpPr>
        <p:spPr>
          <a:xfrm>
            <a:off x="731520" y="3931920"/>
            <a:ext cx="10698480" cy="2468880"/>
          </a:xfrm>
          <a:prstGeom prst="rect">
            <a:avLst/>
          </a:prstGeom>
          <a:solidFill>
            <a:srgbClr val="121212"/>
          </a:solid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69080"/>
            <a:ext cx="10332719" cy="320040"/>
          </a:xfrm>
          <a:prstGeom prst="rect">
            <a:avLst/>
          </a:prstGeom>
          <a:noFill/>
        </p:spPr>
        <p:txBody>
          <a:bodyPr wrap="square" lIns="0" tIns="0" rIns="0" bIns="0">
            <a:spAutoFit/>
          </a:bodyPr>
          <a:lstStyle/>
          <a:p>
            <a:pPr>
              <a:defRPr sz="1000" b="1">
                <a:solidFill>
                  <a:srgbClr val="A1A1AA"/>
                </a:solidFill>
                <a:latin typeface="Consolas"/>
              </a:defRPr>
            </a:pPr>
            <a:r>
              <a:t>EVIDENCE-BASED JUSTIFICATION &amp; ALIGNMENT RATIONALE</a:t>
            </a:r>
          </a:p>
        </p:txBody>
      </p:sp>
      <p:sp>
        <p:nvSpPr>
          <p:cNvPr id="6" name="TextBox 5"/>
          <p:cNvSpPr txBox="1"/>
          <p:nvPr/>
        </p:nvSpPr>
        <p:spPr>
          <a:xfrm>
            <a:off x="914400" y="4297680"/>
            <a:ext cx="10332720" cy="1920240"/>
          </a:xfrm>
          <a:prstGeom prst="rect">
            <a:avLst/>
          </a:prstGeom>
          <a:noFill/>
        </p:spPr>
        <p:txBody>
          <a:bodyPr wrap="square">
            <a:spAutoFit/>
          </a:bodyPr>
          <a:lstStyle/>
          <a:p>
            <a:r>
              <a:rPr sz="900" b="1">
                <a:solidFill>
                  <a:srgbClr val="1DB954"/>
                </a:solidFill>
                <a:latin typeface="Consolas"/>
              </a:rPr>
              <a:t>• PO1, PO2, PO5 (Avg 2.83, 2.67, 2.83) — Engineering Knowledge, Problem Analysis &amp; Tool Usage: </a:t>
            </a:r>
            <a:r>
              <a:rPr sz="900">
                <a:solidFill>
                  <a:srgbClr val="A1A1AA"/>
                </a:solidFill>
                <a:latin typeface="Segoe UI"/>
              </a:rPr>
              <a:t>Grounds moments, probability distributions, convex optimization (L-BFGS), convolutional geometry, and modern frameworks (TensorFlow, scikit-learn, OpenCV).</a:t>
            </a:r>
          </a:p>
          <a:p>
            <a:r>
              <a:rPr sz="900" b="1">
                <a:solidFill>
                  <a:srgbClr val="1DB954"/>
                </a:solidFill>
                <a:latin typeface="Consolas"/>
              </a:rPr>
              <a:t>• PO3, PO4 (Avg 3.00, 2.60) — Solution Design &amp; Complex Problem Investigation: </a:t>
            </a:r>
            <a:r>
              <a:rPr sz="900">
                <a:solidFill>
                  <a:srgbClr val="A1A1AA"/>
                </a:solidFill>
                <a:latin typeface="Segoe UI"/>
              </a:rPr>
              <a:t>Architected DeepConvNet with Global Average Pooling; executed controlled 7-model empirical evaluation on 10,000 isolated test samples under identical conditions.</a:t>
            </a:r>
          </a:p>
          <a:p>
            <a:r>
              <a:rPr sz="900" b="1">
                <a:solidFill>
                  <a:srgbClr val="1DB954"/>
                </a:solidFill>
                <a:latin typeface="Consolas"/>
              </a:rPr>
              <a:t>• PO6, PO7 (Avg 2.00, 2.00) — Society, Sustainability &amp; Professional Ethics: </a:t>
            </a:r>
            <a:r>
              <a:rPr sz="900">
                <a:solidFill>
                  <a:srgbClr val="A1A1AA"/>
                </a:solidFill>
                <a:latin typeface="Segoe UI"/>
              </a:rPr>
              <a:t>Evaluated banking/postal automation societal impact, CPU energy efficiency; enforced transparency via Grad-CAM XAI and calibrated OOD rejection.</a:t>
            </a:r>
          </a:p>
          <a:p>
            <a:r>
              <a:rPr sz="900" b="1">
                <a:solidFill>
                  <a:srgbClr val="1DB954"/>
                </a:solidFill>
                <a:latin typeface="Consolas"/>
              </a:rPr>
              <a:t>• PO8, PO9, PO10, PO11 (Avg 2.50, 2.33, 2.00, 3.00) — Teamwork, Communication, Mgmt &amp; Lifelong Learning: </a:t>
            </a:r>
            <a:r>
              <a:rPr sz="900">
                <a:solidFill>
                  <a:srgbClr val="A1A1AA"/>
                </a:solidFill>
                <a:latin typeface="Segoe UI"/>
              </a:rPr>
              <a:t>Collaborative division across 3 student roles; comprehensive report and 22-slide deck; self-directed mastery of Keras 3, ECE, and Grad-CAM.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