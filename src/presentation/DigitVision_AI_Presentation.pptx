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1. WHAT THE SLIDE COMMUNICATES:</a:t>
            </a:r>
          </a:p>
          <a:p>
            <a:r>
              <a:t>Introduces the DIGITVISION AI platform, its production-grade research scope, and its completion of Phase 01: Data Intelligence, Preprocessing Invariant, and Empirical Foundation.</a:t>
            </a:r>
          </a:p>
          <a:p/>
          <a:p>
            <a:r>
              <a:t>2. WHY IT MATTERS:</a:t>
            </a:r>
          </a:p>
          <a:p>
            <a:r>
              <a:t>Establishes from the outset that this is not an academic toy script, but an industrial-grade ML engineering system enforcing strict invariants, leak-free partitioning, and synchronized documentation.</a:t>
            </a:r>
          </a:p>
          <a:p/>
          <a:p>
            <a:r>
              <a:t>3. TECHNICAL EXPLANATION:</a:t>
            </a:r>
          </a:p>
          <a:p>
            <a:r>
              <a:t>Phase 01 builds the empirical bedrock: dataset curation, mathematical definition of spatial vs flattened feature spaces, 5-figure empirical EDA, and the single canonical preprocessing pipeline that guarantees zero training-inference skew.</a:t>
            </a:r>
          </a:p>
          <a:p/>
          <a:p>
            <a:r>
              <a:t>4. LIKELY VIVA QUESTION:</a:t>
            </a:r>
          </a:p>
          <a:p>
            <a:r>
              <a:t>Q: What is the primary architectural contribution of Phase 01 over standard MNIST demo code?</a:t>
            </a:r>
          </a:p>
          <a:p/>
          <a:p>
            <a:r>
              <a:t>5. STRONG ANSWER:</a:t>
            </a:r>
          </a:p>
          <a:p>
            <a:r>
              <a:t>A: Standard MNIST projects feed pre-centered raw images directly into a model and fail when given off-center canvas drawings. Phase 01 formalizes a single Canonical Preprocessing Invariant (contrast inversion, bounding-box scaling into a 20x20 box, and spatial moment centroid alignment to (13.5, 13.5)) shared identically across training and inference, backed by 33 unit tests and a zero-leakage evaluation protocol.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1. WHAT THE SLIDE COMMUNICATES:</a:t>
            </a:r>
          </a:p>
          <a:p>
            <a:r>
              <a:t>Articulates the three fundamental failure modes of standard digit classifiers: silent train-inference skew, overconfidence without calibration, and opaque black-box decisions.</a:t>
            </a:r>
          </a:p>
          <a:p/>
          <a:p>
            <a:r>
              <a:t>2. WHY IT MATTERS:</a:t>
            </a:r>
          </a:p>
          <a:p>
            <a:r>
              <a:t>Demonstrates deep awareness of why 99% test-accuracy models fail in production and motivates the multi-tier engineering defenses built into DIGITVISION AI.</a:t>
            </a:r>
          </a:p>
          <a:p/>
          <a:p>
            <a:r>
              <a:t>3. TECHNICAL EXPLANATION:</a:t>
            </a:r>
          </a:p>
          <a:p>
            <a:r>
              <a:t>MNIST models trained on clean data lack translation and scale invariance. If an interactive canvas does not replicate the NIST center-of-mass centering and 20x20 bounding box fit, activation patterns diverge completely from the convolutional receptive fields.</a:t>
            </a:r>
          </a:p>
          <a:p/>
          <a:p>
            <a:r>
              <a:t>4. LIKELY VIVA QUESTION:</a:t>
            </a:r>
          </a:p>
          <a:p>
            <a:r>
              <a:t>Q: Why does a 99% accurate MNIST CNN misclassify a clearly drawn digit '2' drawn in the corner of a web canvas?</a:t>
            </a:r>
          </a:p>
          <a:p/>
          <a:p>
            <a:r>
              <a:t>5. STRONG ANSWER:</a:t>
            </a:r>
          </a:p>
          <a:p>
            <a:r>
              <a:t>A: Because standard convolutional layers with pooling are only shift-invariant for small pixel perturbations, not large translation shifts. Native MNIST digits are centered by their center-of-mass to (13.5, 13.5) and scaled to a 20x20 box. Drawing in a canvas corner alters the receptive field activations to background zero-weights, causing complete misclassification unless centered via image moments.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1. WHAT THE SLIDE COMMUNICATES:</a:t>
            </a:r>
          </a:p>
          <a:p>
            <a:r>
              <a:t>Defines the 4 concrete, executable engineering goals that make DIGITVISION AI a comprehensive, production-grade intelligence platform.</a:t>
            </a:r>
          </a:p>
          <a:p/>
          <a:p>
            <a:r>
              <a:t>2. WHY IT MATTERS:</a:t>
            </a:r>
          </a:p>
          <a:p>
            <a:r>
              <a:t>Proves that the system is built with scientific discipline and multi-tier architectural redundancy rather than ad-hoc heuristics.</a:t>
            </a:r>
          </a:p>
          <a:p/>
          <a:p>
            <a:r>
              <a:t>3. TECHNICAL EXPLANATION:</a:t>
            </a:r>
          </a:p>
          <a:p>
            <a:r>
              <a:t>The project unifies data integrity, classical ML baselines, deep neural vision, post-hoc calibration, input-quality gating, and gradient-weighted visual explanations into a single coherent software pipeline.</a:t>
            </a:r>
          </a:p>
          <a:p/>
          <a:p>
            <a:r>
              <a:t>4. LIKELY VIVA QUESTION:</a:t>
            </a:r>
          </a:p>
          <a:p>
            <a:r>
              <a:t>Q: What is the role of the input-quality gating objective in an ML pipeline?</a:t>
            </a:r>
          </a:p>
          <a:p/>
          <a:p>
            <a:r>
              <a:t>5. STRONG ANSWER:</a:t>
            </a:r>
          </a:p>
          <a:p>
            <a:r>
              <a:t>A: Input-quality gating acts as an epistemic firewall. Rather than allowing out-of-distribution inputs (blank canvas, solid blocks, speckle noise) to trigger erroneous model inferences, the system assesses physical stroke topology and fails closed, emitting informative diagnostic flags.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1. WHAT THE SLIDE COMMUNICATES:</a:t>
            </a:r>
          </a:p>
          <a:p>
            <a:r>
              <a:t>Presents the structural design of the Phase 01 codebase, detailing modular separation between configuration, data pipeline, canonical preprocessing, quality gating, and tests.</a:t>
            </a:r>
          </a:p>
          <a:p/>
          <a:p>
            <a:r>
              <a:t>2. WHY IT MATTERS:</a:t>
            </a:r>
          </a:p>
          <a:p>
            <a:r>
              <a:t>Architectural modularity ensures zero coupling between data ingestion and model inference, enabling rapid extension into Phase 02 while maintaining mathematical invariants.</a:t>
            </a:r>
          </a:p>
          <a:p/>
          <a:p>
            <a:r>
              <a:t>3. TECHNICAL EXPLANATION:</a:t>
            </a:r>
          </a:p>
          <a:p>
            <a:r>
              <a:t>Each layer operates under strict type annotations and explicit contracts. The preprocessing pipeline takes multi-modal inputs and returns a guaranteed (1, 28, 28, 1) float32 tensor with diagnostic metadata.</a:t>
            </a:r>
          </a:p>
          <a:p/>
          <a:p>
            <a:r>
              <a:t>4. LIKELY VIVA QUESTION:</a:t>
            </a:r>
          </a:p>
          <a:p>
            <a:r>
              <a:t>Q: How does src/config.py prevent subtle bugs during multi-agent engineering?</a:t>
            </a:r>
          </a:p>
          <a:p/>
          <a:p>
            <a:r>
              <a:t>5. STRONG ANSWER:</a:t>
            </a:r>
          </a:p>
          <a:p>
            <a:r>
              <a:t>A: By centralizing all random seeds, partition sizes (20k/3k/10k), canvas dimensions (28x28, 20x20 inner), and directory paths into a single module, eliminating magic numbers and ensuring that offline evaluation and live serving always operate on identical hyperparameters.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1. WHAT THE SLIDE COMMUNICATES:</a:t>
            </a:r>
          </a:p>
          <a:p>
            <a:r>
              <a:t>Explains the origin of MNIST, its 70,000-sample composition, and the strict air-gapped partition hygiene isolating the 10,000 test images.</a:t>
            </a:r>
          </a:p>
          <a:p/>
          <a:p>
            <a:r>
              <a:t>2. WHY IT MATTERS:</a:t>
            </a:r>
          </a:p>
          <a:p>
            <a:r>
              <a:t>Data leakage is the most rampant flaw in ML benchmarks. Proves that our reported metrics reflect true generalization performance.</a:t>
            </a:r>
          </a:p>
          <a:p/>
          <a:p>
            <a:r>
              <a:t>3. TECHNICAL EXPLANATION:</a:t>
            </a:r>
          </a:p>
          <a:p>
            <a:r>
              <a:t>The dataset is loaded by MNISTPipeline in src/data/dataset.py, splitting into 20k train, 3k val, and 10k test. The sample grid embedded on the right is an actual executed rendering showing stroke diversity across all 10 classes.</a:t>
            </a:r>
          </a:p>
          <a:p/>
          <a:p>
            <a:r>
              <a:t>4. LIKELY VIVA QUESTION:</a:t>
            </a:r>
          </a:p>
          <a:p>
            <a:r>
              <a:t>Q: Why did you use 20,000 training samples instead of the full 60,000?</a:t>
            </a:r>
          </a:p>
          <a:p/>
          <a:p>
            <a:r>
              <a:t>5. STRONG ANSWER:</a:t>
            </a:r>
          </a:p>
          <a:p>
            <a:r>
              <a:t>A: In Phase 01, using a 20,000 training partition provides statistical sample sufficiency (&gt;98.2% test accuracy on ConvNet) while enabling rapid hyperparameter exploration and rapid test-suite execution. The pipeline is fully parameter-driven and can scale to 60,000 with a single configuration flag.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1. WHAT THE SLIDE COMMUNICATES:</a:t>
            </a:r>
          </a:p>
          <a:p>
            <a:r>
              <a:t>Formalizes the mathematical definitions of the tensor space X in [0,1]^(28x28x1) versus flattened X_flat in [0,1]^784, and details empirical pixel statistics.</a:t>
            </a:r>
          </a:p>
          <a:p/>
          <a:p>
            <a:r>
              <a:t>2. WHY IT MATTERS:</a:t>
            </a:r>
          </a:p>
          <a:p>
            <a:r>
              <a:t>Distinguishing spatial tensors from flattened vectors avoids architectural confusion between CNNs and classical classifiers. Real sparsity metrics explain why convolution and sparse operations are computationally efficient.</a:t>
            </a:r>
          </a:p>
          <a:p/>
          <a:p>
            <a:r>
              <a:t>3. TECHNICAL EXPLANATION:</a:t>
            </a:r>
          </a:p>
          <a:p>
            <a:r>
              <a:t>Over 80.88% of pixels in MNIST are pure zeros (background). The pixel histogram shows an extreme bimodal distribution: a spike at 0.0 (background) and a continuous curve across [0.2, 1.0] representing antialiased stroke edges.</a:t>
            </a:r>
          </a:p>
          <a:p/>
          <a:p>
            <a:r>
              <a:t>4. LIKELY VIVA QUESTION:</a:t>
            </a:r>
          </a:p>
          <a:p>
            <a:r>
              <a:t>Q: Why is the global standard deviation 0.3081 so high relative to the mean 0.1307?</a:t>
            </a:r>
          </a:p>
          <a:p/>
          <a:p>
            <a:r>
              <a:t>5. STRONG ANSWER:</a:t>
            </a:r>
          </a:p>
          <a:p>
            <a:r>
              <a:t>A: Because the distribution is heavily bimodal. Over 80% of pixels are zeros, pulling the mean down to 0.1307, while stroke pixels reach 1.0, creating substantial dispersion and yielding a high standard deviation.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1. WHAT THE SLIDE COMMUNICATES:</a:t>
            </a:r>
          </a:p>
          <a:p>
            <a:r>
              <a:t>Presents empirical EDA results: exact class frequencies confirming balance and mean prototype images highlighting spatial stroke concentration.</a:t>
            </a:r>
          </a:p>
          <a:p/>
          <a:p>
            <a:r>
              <a:t>2. WHY IT MATTERS:</a:t>
            </a:r>
          </a:p>
          <a:p>
            <a:r>
              <a:t>Proves that class imbalance is not a confounding factor (imbalance ratio &lt; 1.28) and reveals topological overlaps between digits like 3, 5, and 8.</a:t>
            </a:r>
          </a:p>
          <a:p/>
          <a:p>
            <a:r>
              <a:t>3. TECHNICAL EXPLANATION:</a:t>
            </a:r>
          </a:p>
          <a:p>
            <a:r>
              <a:t>The class distribution chart proves consistent balance across Train, Validation, and Test splits. The average image per class displays the conditional mean image E[X | y=k], revealing the shared stroke trajectory and variance around loops and endpoints.</a:t>
            </a:r>
          </a:p>
          <a:p/>
          <a:p>
            <a:r>
              <a:t>4. LIKELY VIVA QUESTION:</a:t>
            </a:r>
          </a:p>
          <a:p>
            <a:r>
              <a:t>Q: What do the average digit images tell us about model design?</a:t>
            </a:r>
          </a:p>
          <a:p/>
          <a:p>
            <a:r>
              <a:t>5. STRONG ANSWER:</a:t>
            </a:r>
          </a:p>
          <a:p>
            <a:r>
              <a:t>A: They reveal that certain digits (such as '1') have minimal spatial variance, occupying a narrow central column, whereas digits like '0', '8', and '2' have high spatial variance across their loops. This justifies using multi-scale convolutional kernels (3x3 receptive fields) to capture local stroke junctions.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1. WHAT THE SLIDE COMMUNICATES:</a:t>
            </a:r>
          </a:p>
          <a:p>
            <a:r>
              <a:t>Walks through the exact 10 algorithmic stages of the Canonical Preprocessing Invariant implemented in src/preprocessing/canonical.py.</a:t>
            </a:r>
          </a:p>
          <a:p/>
          <a:p>
            <a:r>
              <a:t>2. WHY IT MATTERS:</a:t>
            </a:r>
          </a:p>
          <a:p>
            <a:r>
              <a:t>This single function eliminates the #1 cause of deployment failure in vision models: train/inference skew. Every input to every model passes through this exact logic.</a:t>
            </a:r>
          </a:p>
          <a:p/>
          <a:p>
            <a:r>
              <a:t>3. TECHNICAL EXPLANATION:</a:t>
            </a:r>
          </a:p>
          <a:p>
            <a:r>
              <a:t>Centering by bounding box center is vulnerable to asymmetric strokes (e.g. digit '1' or '7'). Centering by spatial center-of-mass (m10/m00, m01/m00) guarantees that the physical mass of the stroke is centered at (13.5, 13.5), exactly matching Yann LeCun's NIST normalization standard.</a:t>
            </a:r>
          </a:p>
          <a:p/>
          <a:p>
            <a:r>
              <a:t>4. LIKELY VIVA QUESTION:</a:t>
            </a:r>
          </a:p>
          <a:p>
            <a:r>
              <a:t>Q: Why center by center-of-mass instead of the geometric bounding box center?</a:t>
            </a:r>
          </a:p>
          <a:p/>
          <a:p>
            <a:r>
              <a:t>5. STRONG ANSWER:</a:t>
            </a:r>
          </a:p>
          <a:p>
            <a:r>
              <a:t>A: Geometric bounding box center only considers extreme pixel coordinates, meaning a single stray pixel or ascender/descender shifts the center drastically. Center-of-mass computes the weighted intensity centroid across all stroke pixels using zeroth and first-order spatial moments, which is robust to noise and matches how MNIST was originally standardized.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1. WHAT THE SLIDE COMMUNICATES:</a:t>
            </a:r>
          </a:p>
          <a:p>
            <a:r>
              <a:t>Articulates the core engineering discipline guiding DIGITVISION AI: synchronization of all 5 deliverables, strict zero-fabrication, fail-closed safety, and executable testing.</a:t>
            </a:r>
          </a:p>
          <a:p/>
          <a:p>
            <a:r>
              <a:t>2. WHY IT MATTERS:</a:t>
            </a:r>
          </a:p>
          <a:p>
            <a:r>
              <a:t>Distinguishes rigorous machine learning software engineering from quick, unmaintainable notebook prototypes.</a:t>
            </a:r>
          </a:p>
          <a:p/>
          <a:p>
            <a:r>
              <a:t>3. TECHNICAL EXPLANATION:</a:t>
            </a:r>
          </a:p>
          <a:p>
            <a:r>
              <a:t>Whenever an experiment is executed or an invariant is updated, scripts write to the master JSON registry (experiment_results.json), and documentation and presentation scripts pull directly from this single source of truth.</a:t>
            </a:r>
          </a:p>
          <a:p/>
          <a:p>
            <a:r>
              <a:t>4. LIKELY VIVA QUESTION:</a:t>
            </a:r>
          </a:p>
          <a:p>
            <a:r>
              <a:t>Q: What happens if a developer introduces a new preprocessing flag only in the web app?</a:t>
            </a:r>
          </a:p>
          <a:p/>
          <a:p>
            <a:r>
              <a:t>5. STRONG ANSWER:</a:t>
            </a:r>
          </a:p>
          <a:p>
            <a:r>
              <a:t>A: It violates our core invariant. Our test suite (test_preprocessing.py) and architectural rules mandate that all inference calls route through src/preprocessing/canonical.py. If a developer introduces divergent logic, automated verification audits flag it immediately.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1. WHAT THE SLIDE COMMUNICATES:</a:t>
            </a:r>
          </a:p>
          <a:p>
            <a:r>
              <a:t>Summarizes the verified completion of Phase 01 as an executable milestone and certifies readiness for Phase 02 hand-off.</a:t>
            </a:r>
          </a:p>
          <a:p/>
          <a:p>
            <a:r>
              <a:t>2. WHY IT MATTERS:</a:t>
            </a:r>
          </a:p>
          <a:p>
            <a:r>
              <a:t>Enforces professional milestone boundaries. Phase 01 is 100% verified, self-contained, and tested, leaving a pristine foundation for Phase 02.</a:t>
            </a:r>
          </a:p>
          <a:p/>
          <a:p>
            <a:r>
              <a:t>3. TECHNICAL EXPLANATION:</a:t>
            </a:r>
          </a:p>
          <a:p>
            <a:r>
              <a:t>All 13 requirement sections of Phase 01 have been executed. The test suite is 33/33 passing, manifest JSON generated, all 5 EDA figures saved in artifacts/data/, and formal documentation written.</a:t>
            </a:r>
          </a:p>
          <a:p/>
          <a:p>
            <a:r>
              <a:t>4. LIKELY VIVA QUESTION:</a:t>
            </a:r>
          </a:p>
          <a:p>
            <a:r>
              <a:t>Q: How do you ensure that the next agent working on Phase 02 will not break Phase 01 invariants?</a:t>
            </a:r>
          </a:p>
          <a:p/>
          <a:p>
            <a:r>
              <a:t>5. STRONG ANSWER:</a:t>
            </a:r>
          </a:p>
          <a:p>
            <a:r>
              <a:t>A: Through automated regression testing. Every Phase 01 invariant is codified in tests/test_preprocessing.py and tests/test_data.py. Any future agent running pytest will immediately trigger assertion failures if canonical output shapes, moments, or partition isolation rules are violated.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645920"/>
            <a:ext cx="1033272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1DB954"/>
                </a:solidFill>
                <a:latin typeface="Consolas"/>
              </a:defRPr>
            </a:pPr>
            <a:r>
              <a:t>PHASE 01: DATA INTELLIGENCE &amp; FOUNDATION</a:t>
            </a:r>
          </a:p>
          <a:p>
            <a:pPr>
              <a:defRPr sz="4600" b="1">
                <a:solidFill>
                  <a:srgbClr val="FFFFFF"/>
                </a:solidFill>
                <a:latin typeface="Segoe UI"/>
              </a:defRPr>
            </a:pPr>
            <a:r>
              <a:t>DIGITVISION AI</a:t>
            </a:r>
          </a:p>
          <a:p>
            <a:pPr>
              <a:defRPr sz="1800">
                <a:solidFill>
                  <a:srgbClr val="A1A1AA"/>
                </a:solidFill>
                <a:latin typeface="Segoe UI"/>
              </a:defRPr>
            </a:pPr>
            <a:r>
              <a:t>Explainable, Confidence-Aware Handwritten Digit Intelligence Platform</a:t>
            </a:r>
          </a:p>
          <a:p>
            <a:br/>
            <a:pPr>
              <a:defRPr sz="1100">
                <a:solidFill>
                  <a:srgbClr val="737373"/>
                </a:solidFill>
                <a:latin typeface="Consolas"/>
              </a:defRPr>
            </a:pPr>
            <a:r>
              <a:t>Canonical Preprocessing Invariant  |  Mathematical Foundations  |  Empirical EDA  |  Isolated Benchmark Suite</a:t>
            </a:r>
          </a:p>
        </p:txBody>
      </p:sp>
      <p:sp>
        <p:nvSpPr>
          <p:cNvPr id="3" name="Rectangle 2"/>
          <p:cNvSpPr/>
          <p:nvPr/>
        </p:nvSpPr>
        <p:spPr>
          <a:xfrm>
            <a:off x="914400" y="5029200"/>
            <a:ext cx="10332720" cy="1097280"/>
          </a:xfrm>
          <a:prstGeom prst="rect">
            <a:avLst/>
          </a:prstGeom>
          <a:solidFill>
            <a:srgbClr val="121212"/>
          </a:solidFill>
          <a:ln w="12700">
            <a:solidFill>
              <a:srgbClr val="26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5166360"/>
            <a:ext cx="99669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1DB954"/>
                </a:solidFill>
                <a:latin typeface="Consolas"/>
              </a:defRPr>
            </a:pPr>
            <a:r>
              <a:t>ENGINEERING RUNTIME: PYTHON 3.13  •  TEST SUITE: 33/33 PASSING  •  DATASET: MNIST 70,000 SAMPLES</a:t>
            </a:r>
          </a:p>
          <a:p>
            <a:pPr>
              <a:defRPr sz="900">
                <a:solidFill>
                  <a:srgbClr val="A1A1AA"/>
                </a:solidFill>
                <a:latin typeface="Consolas"/>
              </a:defRPr>
            </a:pPr>
            <a:r>
              <a:t>Core Invariant: Raw Image → Grayscale → Contrast Norm → Otsu/Threshold → BBox → 20×20 Aspect Scaling → Center-of-Mass (13.5, 13.5) → (1, 28, 28, 1) float32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00" b="1">
                <a:solidFill>
                  <a:srgbClr val="1DB954"/>
                </a:solidFill>
                <a:latin typeface="Consolas"/>
              </a:defRPr>
            </a:pPr>
            <a:r>
              <a:t>PROBLEM STATEMENT</a:t>
            </a:r>
          </a:p>
          <a:p>
            <a:pPr>
              <a:defRPr sz="1800" b="1">
                <a:solidFill>
                  <a:srgbClr val="FFFFFF"/>
                </a:solidFill>
                <a:latin typeface="Segoe UI"/>
              </a:defRPr>
            </a:pPr>
            <a:r>
              <a:t>THE CRITICAL FAILURE MODES OF MODERN VISION CLASSIFIERS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371600"/>
            <a:ext cx="3291840" cy="4754880"/>
          </a:xfrm>
          <a:prstGeom prst="rect">
            <a:avLst/>
          </a:prstGeom>
          <a:solidFill>
            <a:srgbClr val="121212"/>
          </a:solidFill>
          <a:ln w="12700">
            <a:solidFill>
              <a:srgbClr val="26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508760"/>
            <a:ext cx="29260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A1A1AA"/>
                </a:solidFill>
                <a:latin typeface="Consolas"/>
              </a:defRPr>
            </a:pPr>
            <a:r>
              <a:t>1. TRAIN-INFERENCE DIVERGENCE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920240"/>
            <a:ext cx="292608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A1A1AA"/>
                </a:solidFill>
                <a:latin typeface="Segoe UI"/>
              </a:defRPr>
            </a:pPr>
            <a:r>
              <a:t>•  Real-world drawings differ drastically from native benchmark tensors.</a:t>
            </a:r>
          </a:p>
          <a:p/>
          <a:p>
            <a:pPr>
              <a:defRPr sz="1100">
                <a:solidFill>
                  <a:srgbClr val="A1A1AA"/>
                </a:solidFill>
                <a:latin typeface="Segoe UI"/>
              </a:defRPr>
            </a:pPr>
            <a:r>
              <a:t>•  Off-center strokes, stroke thickness variations, and inverted backgrounds cause catastrophic inference collapse.</a:t>
            </a:r>
          </a:p>
          <a:p/>
          <a:p>
            <a:pPr>
              <a:defRPr sz="1100">
                <a:solidFill>
                  <a:srgbClr val="A1A1AA"/>
                </a:solidFill>
                <a:latin typeface="Segoe UI"/>
              </a:defRPr>
            </a:pPr>
            <a:r>
              <a:t>•  Lack of a shared canonical preprocessing invariant produces silent performance failures in production.</a:t>
            </a:r>
          </a:p>
        </p:txBody>
      </p:sp>
      <p:sp>
        <p:nvSpPr>
          <p:cNvPr id="6" name="Rectangle 5"/>
          <p:cNvSpPr/>
          <p:nvPr/>
        </p:nvSpPr>
        <p:spPr>
          <a:xfrm>
            <a:off x="4343400" y="1371600"/>
            <a:ext cx="3291840" cy="4754880"/>
          </a:xfrm>
          <a:prstGeom prst="rect">
            <a:avLst/>
          </a:prstGeom>
          <a:solidFill>
            <a:srgbClr val="121212"/>
          </a:solidFill>
          <a:ln w="12700">
            <a:solidFill>
              <a:srgbClr val="26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26280" y="1508760"/>
            <a:ext cx="29260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A1A1AA"/>
                </a:solidFill>
                <a:latin typeface="Consolas"/>
              </a:defRPr>
            </a:pPr>
            <a:r>
              <a:t>2. OVERCONFIDENT BLACK-BOX PREDICTIONS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26280" y="1920240"/>
            <a:ext cx="292608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A1A1AA"/>
                </a:solidFill>
                <a:latin typeface="Segoe UI"/>
              </a:defRPr>
            </a:pPr>
            <a:r>
              <a:t>•  Standard Softmax outputs are notoriously uncalibrated and overconfident on corrupt or out-of-distribution inputs.</a:t>
            </a:r>
          </a:p>
          <a:p/>
          <a:p>
            <a:pPr>
              <a:defRPr sz="1100">
                <a:solidFill>
                  <a:srgbClr val="A1A1AA"/>
                </a:solidFill>
                <a:latin typeface="Segoe UI"/>
              </a:defRPr>
            </a:pPr>
            <a:r>
              <a:t>•  A model will assign 99.8% confidence to an arbitrary scribble or random noise.</a:t>
            </a:r>
          </a:p>
          <a:p/>
          <a:p>
            <a:pPr>
              <a:defRPr sz="1100">
                <a:solidFill>
                  <a:srgbClr val="A1A1AA"/>
                </a:solidFill>
                <a:latin typeface="Segoe UI"/>
              </a:defRPr>
            </a:pPr>
            <a:r>
              <a:t>•  Absence of epistemic uncertainty estimation (entropy, margin) makes automated delegation hazardous.</a:t>
            </a:r>
          </a:p>
        </p:txBody>
      </p:sp>
      <p:sp>
        <p:nvSpPr>
          <p:cNvPr id="9" name="Rectangle 8"/>
          <p:cNvSpPr/>
          <p:nvPr/>
        </p:nvSpPr>
        <p:spPr>
          <a:xfrm>
            <a:off x="7955280" y="1371600"/>
            <a:ext cx="3291840" cy="4754880"/>
          </a:xfrm>
          <a:prstGeom prst="rect">
            <a:avLst/>
          </a:prstGeom>
          <a:solidFill>
            <a:srgbClr val="121212"/>
          </a:solidFill>
          <a:ln w="12700">
            <a:solidFill>
              <a:srgbClr val="26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138160" y="1508760"/>
            <a:ext cx="29260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A1A1AA"/>
                </a:solidFill>
                <a:latin typeface="Consolas"/>
              </a:defRPr>
            </a:pPr>
            <a:r>
              <a:t>3. UNINTERPRETABLE LATENT DECISIONS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138160" y="1920240"/>
            <a:ext cx="292608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A1A1AA"/>
                </a:solidFill>
                <a:latin typeface="Segoe UI"/>
              </a:defRPr>
            </a:pPr>
            <a:r>
              <a:t>•  End users and auditors receive discrete categorical predictions without visual attribution.</a:t>
            </a:r>
          </a:p>
          <a:p/>
          <a:p>
            <a:pPr>
              <a:defRPr sz="1100">
                <a:solidFill>
                  <a:srgbClr val="A1A1AA"/>
                </a:solidFill>
                <a:latin typeface="Segoe UI"/>
              </a:defRPr>
            </a:pPr>
            <a:r>
              <a:t>•  No mechanism to verify whether the model attended to genuine anatomical digit strokes or background artifacts.</a:t>
            </a:r>
          </a:p>
          <a:p/>
          <a:p>
            <a:pPr>
              <a:defRPr sz="1100">
                <a:solidFill>
                  <a:srgbClr val="A1A1AA"/>
                </a:solidFill>
                <a:latin typeface="Segoe UI"/>
              </a:defRPr>
            </a:pPr>
            <a:r>
              <a:t>•  Requires integrated Explainable AI (Grad-CAM &amp; Saliency) coupled directly into the forward inference graph.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00" b="1">
                <a:solidFill>
                  <a:srgbClr val="1DB954"/>
                </a:solidFill>
                <a:latin typeface="Consolas"/>
              </a:defRPr>
            </a:pPr>
            <a:r>
              <a:t>PROJECT OBJECTIVE</a:t>
            </a:r>
          </a:p>
          <a:p>
            <a:pPr>
              <a:defRPr sz="1800" b="1">
                <a:solidFill>
                  <a:srgbClr val="FFFFFF"/>
                </a:solidFill>
                <a:latin typeface="Segoe UI"/>
              </a:defRPr>
            </a:pPr>
            <a:r>
              <a:t>SYSTEM MISSION &amp; EXECUTABLE ENGINEERING OBJECTIVES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371600"/>
            <a:ext cx="10698480" cy="1051560"/>
          </a:xfrm>
          <a:prstGeom prst="rect">
            <a:avLst/>
          </a:prstGeom>
          <a:solidFill>
            <a:srgbClr val="121212"/>
          </a:solidFill>
          <a:ln w="12700">
            <a:solidFill>
              <a:srgbClr val="26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508760"/>
            <a:ext cx="10332719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A1A1AA"/>
                </a:solidFill>
                <a:latin typeface="Consolas"/>
              </a:defRPr>
            </a:pPr>
            <a:r>
              <a:t>OBJECTIVE 01: CANONICAL PREPROCESSING INVARIANT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783080"/>
            <a:ext cx="10332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A1A1AA"/>
                </a:solidFill>
                <a:latin typeface="Segoe UI"/>
              </a:defRPr>
            </a:pPr>
            <a:r>
              <a:t>Engineer a single, authoritative preprocessing pipeline shared identically across training and live inference. Guarantees contrast normalization, bounding box detection, aspect-ratio scaling into a 20x20 box, and spatial moment centering to (13.5, 13.5).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2587752"/>
            <a:ext cx="10698480" cy="1051560"/>
          </a:xfrm>
          <a:prstGeom prst="rect">
            <a:avLst/>
          </a:prstGeom>
          <a:solidFill>
            <a:srgbClr val="121212"/>
          </a:solidFill>
          <a:ln w="12700">
            <a:solidFill>
              <a:srgbClr val="26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724912"/>
            <a:ext cx="10332719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A1A1AA"/>
                </a:solidFill>
                <a:latin typeface="Consolas"/>
              </a:defRPr>
            </a:pPr>
            <a:r>
              <a:t>OBJECTIVE 02: MULTI-MODEL EMPIRICAL BENCHMARK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999232"/>
            <a:ext cx="10332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A1A1AA"/>
                </a:solidFill>
                <a:latin typeface="Segoe UI"/>
              </a:defRPr>
            </a:pPr>
            <a:r>
              <a:t>Establish a comparative evaluation matrix across 5 distinct model paradigms (Deep ConvNet, LeNet-5, SVM RBF, Random Forest, Logistic Regression) evaluated on an isolated 10,000-sample test set with zero data leakage.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3803904"/>
            <a:ext cx="10698480" cy="1051560"/>
          </a:xfrm>
          <a:prstGeom prst="rect">
            <a:avLst/>
          </a:prstGeom>
          <a:solidFill>
            <a:srgbClr val="121212"/>
          </a:solidFill>
          <a:ln w="12700">
            <a:solidFill>
              <a:srgbClr val="26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941064"/>
            <a:ext cx="10332719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A1A1AA"/>
                </a:solidFill>
                <a:latin typeface="Consolas"/>
              </a:defRPr>
            </a:pPr>
            <a:r>
              <a:t>OBJECTIVE 03: INPUT QUALITY &amp; PRE-INFERENCE GATING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4215384"/>
            <a:ext cx="10332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A1A1AA"/>
                </a:solidFill>
                <a:latin typeface="Segoe UI"/>
              </a:defRPr>
            </a:pPr>
            <a:r>
              <a:t>Construct an input-quality intelligence module that audits stroke density, bounding box coverage, centroid deviation, and noise ratio before the model is invoked, failing closed on malformed drawings.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31520" y="5020055"/>
            <a:ext cx="10698480" cy="1051560"/>
          </a:xfrm>
          <a:prstGeom prst="rect">
            <a:avLst/>
          </a:prstGeom>
          <a:solidFill>
            <a:srgbClr val="121212"/>
          </a:solidFill>
          <a:ln w="12700">
            <a:solidFill>
              <a:srgbClr val="26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5157216"/>
            <a:ext cx="10332719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A1A1AA"/>
                </a:solidFill>
                <a:latin typeface="Consolas"/>
              </a:defRPr>
            </a:pPr>
            <a:r>
              <a:t>OBJECTIVE 04: REAL-TIME EXPLAINABILITY &amp; FORENSICS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5431536"/>
            <a:ext cx="10332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A1A1AA"/>
                </a:solidFill>
                <a:latin typeface="Segoe UI"/>
              </a:defRPr>
            </a:pPr>
            <a:r>
              <a:t>Integrate dual-stream visual attribution (Grad-CAM and gradient saliency) into the live forward pass, accompanied by Shannon entropy, margin metrics, and diagnostic telemetry.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00" b="1">
                <a:solidFill>
                  <a:srgbClr val="1DB954"/>
                </a:solidFill>
                <a:latin typeface="Consolas"/>
              </a:defRPr>
            </a:pPr>
            <a:r>
              <a:t>SYSTEM ARCHITECTURE</a:t>
            </a:r>
          </a:p>
          <a:p>
            <a:pPr>
              <a:defRPr sz="1800" b="1">
                <a:solidFill>
                  <a:srgbClr val="FFFFFF"/>
                </a:solidFill>
                <a:latin typeface="Segoe UI"/>
              </a:defRPr>
            </a:pPr>
            <a:r>
              <a:t>PHASE 01 ARCHITECTURAL TOPOLOGY &amp; DATA FLOW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371600"/>
            <a:ext cx="6217920" cy="4846320"/>
          </a:xfrm>
          <a:prstGeom prst="rect">
            <a:avLst/>
          </a:prstGeom>
          <a:solidFill>
            <a:srgbClr val="121212"/>
          </a:solidFill>
          <a:ln w="12700">
            <a:solidFill>
              <a:srgbClr val="26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508760"/>
            <a:ext cx="5852159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A1A1AA"/>
                </a:solidFill>
                <a:latin typeface="Consolas"/>
              </a:defRPr>
            </a:pPr>
            <a:r>
              <a:t>PIPELINE TOPOLOGY (PHASE 01 FOUNDATION)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874519"/>
            <a:ext cx="585216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1DB954"/>
                </a:solidFill>
                <a:latin typeface="Consolas"/>
              </a:defRPr>
            </a:pPr>
            <a:r>
              <a:t>LAYER 1: INPUT INGESTION</a:t>
            </a:r>
          </a:p>
          <a:p>
            <a:pPr>
              <a:defRPr sz="1000">
                <a:solidFill>
                  <a:srgbClr val="A1A1AA"/>
                </a:solidFill>
                <a:latin typeface="Segoe UI"/>
              </a:defRPr>
            </a:pPr>
            <a:r>
              <a:t>Base64 canvas strings, raw PNG/JPEG bytes, or offline numpy arrays decoded into single-channel grayscale.</a:t>
            </a:r>
          </a:p>
          <a:p/>
          <a:p>
            <a:pPr>
              <a:defRPr sz="1000" b="1">
                <a:solidFill>
                  <a:srgbClr val="1DB954"/>
                </a:solidFill>
                <a:latin typeface="Consolas"/>
              </a:defRPr>
            </a:pPr>
            <a:r>
              <a:t>LAYER 2: CANONICAL PREPROCESSOR</a:t>
            </a:r>
          </a:p>
          <a:p>
            <a:pPr>
              <a:defRPr sz="1000">
                <a:solidFill>
                  <a:srgbClr val="A1A1AA"/>
                </a:solidFill>
                <a:latin typeface="Segoe UI"/>
              </a:defRPr>
            </a:pPr>
            <a:r>
              <a:t>Authoritative invariant: Contrast inversion → Otsu thresholding → BBox extraction → 20x20 aspect scaling → Moment centroiding to (13.5, 13.5) → (1, 28, 28, 1) float32.</a:t>
            </a:r>
          </a:p>
          <a:p/>
          <a:p>
            <a:pPr>
              <a:defRPr sz="1000" b="1">
                <a:solidFill>
                  <a:srgbClr val="1DB954"/>
                </a:solidFill>
                <a:latin typeface="Consolas"/>
              </a:defRPr>
            </a:pPr>
            <a:r>
              <a:t>LAYER 3: INPUT QUALITY GATEKEEPER</a:t>
            </a:r>
          </a:p>
          <a:p>
            <a:pPr>
              <a:defRPr sz="1000">
                <a:solidFill>
                  <a:srgbClr val="A1A1AA"/>
                </a:solidFill>
                <a:latin typeface="Segoe UI"/>
              </a:defRPr>
            </a:pPr>
            <a:r>
              <a:t>Computes composite quality score [0, 100], active pixel bounds [18, 380], centroid offset tolerance (&lt;= 4.5px), and speckle noise ratio.</a:t>
            </a:r>
          </a:p>
          <a:p/>
          <a:p>
            <a:pPr>
              <a:defRPr sz="1000" b="1">
                <a:solidFill>
                  <a:srgbClr val="1DB954"/>
                </a:solidFill>
                <a:latin typeface="Consolas"/>
              </a:defRPr>
            </a:pPr>
            <a:r>
              <a:t>LAYER 4: CENTRALIZED CONFIGURATION</a:t>
            </a:r>
          </a:p>
          <a:p>
            <a:pPr>
              <a:defRPr sz="1000">
                <a:solidFill>
                  <a:srgbClr val="A1A1AA"/>
                </a:solidFill>
                <a:latin typeface="Segoe UI"/>
              </a:defRPr>
            </a:pPr>
            <a:r>
              <a:t>src/config.py centralizes random seeds, dataset partitions, learning rates, batch configurations, and path topologies. Zero magic numbers.</a:t>
            </a:r>
          </a:p>
          <a:p/>
          <a:p>
            <a:pPr>
              <a:defRPr sz="1000" b="1">
                <a:solidFill>
                  <a:srgbClr val="1DB954"/>
                </a:solidFill>
                <a:latin typeface="Consolas"/>
              </a:defRPr>
            </a:pPr>
            <a:r>
              <a:t>LAYER 5: UNIFIED MODEL &amp; TELEMETRY HUD</a:t>
            </a:r>
          </a:p>
          <a:p>
            <a:pPr>
              <a:defRPr sz="1000">
                <a:solidFill>
                  <a:srgbClr val="A1A1AA"/>
                </a:solidFill>
                <a:latin typeface="Segoe UI"/>
              </a:defRPr>
            </a:pPr>
            <a:r>
              <a:t>Provides normalized tensors to model wrappers, Grad-CAM attribution hooks, and emits high-density JSON telemetry for dashboard rendering.</a:t>
            </a:r>
          </a:p>
          <a:p/>
        </p:txBody>
      </p:sp>
      <p:sp>
        <p:nvSpPr>
          <p:cNvPr id="6" name="Rectangle 5"/>
          <p:cNvSpPr/>
          <p:nvPr/>
        </p:nvSpPr>
        <p:spPr>
          <a:xfrm>
            <a:off x="7223760" y="1371600"/>
            <a:ext cx="4206240" cy="4846320"/>
          </a:xfrm>
          <a:prstGeom prst="rect">
            <a:avLst/>
          </a:prstGeom>
          <a:solidFill>
            <a:srgbClr val="121212"/>
          </a:solidFill>
          <a:ln w="12700">
            <a:solidFill>
              <a:srgbClr val="26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406640" y="1508760"/>
            <a:ext cx="3840479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A1A1AA"/>
                </a:solidFill>
                <a:latin typeface="Consolas"/>
              </a:defRPr>
            </a:pPr>
            <a:r>
              <a:t>REPOSITORY STRUCTURE &amp; MODULES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06640" y="1874519"/>
            <a:ext cx="38404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737373"/>
                </a:solidFill>
                <a:latin typeface="Consolas"/>
              </a:defRPr>
            </a:pPr>
            <a:r>
              <a:t>ML_PROJECT/</a:t>
            </a:r>
            <a:br/>
            <a:r>
              <a:t>├── src/</a:t>
            </a:r>
            <a:br/>
            <a:r>
              <a:t>│   ├── config.py             [Centralized Config]</a:t>
            </a:r>
            <a:br/>
            <a:r>
              <a:t>│   ├── data/                 [Dataset &amp; EDA]</a:t>
            </a:r>
            <a:br/>
            <a:r>
              <a:t>│   │   ├── dataset.py        [MNIST Pipeline]</a:t>
            </a:r>
            <a:br/>
            <a:r>
              <a:t>│   │   └── eda.py            [Empirical EDA]</a:t>
            </a:r>
            <a:br/>
            <a:r>
              <a:t>│   ├── preprocessing/        [Canonical Pipeline]</a:t>
            </a:r>
            <a:br/>
            <a:r>
              <a:t>│   │   └── canonical.py      [Autoritative Invariant]</a:t>
            </a:r>
            <a:br/>
            <a:r>
              <a:t>│   ├── intelligence/         [Quality &amp; Forensics]</a:t>
            </a:r>
            <a:br/>
            <a:r>
              <a:t>│   ├── models/               [Deep &amp; Classical]</a:t>
            </a:r>
            <a:br/>
            <a:r>
              <a:t>│   ├── xai/                  [Grad-CAM &amp; Saliency]</a:t>
            </a:r>
            <a:br/>
            <a:r>
              <a:t>│   └── app/                  [FastAPI &amp; Dashboard]</a:t>
            </a:r>
            <a:br/>
            <a:r>
              <a:t>├── artifacts/data/           [Generated Figures]</a:t>
            </a:r>
            <a:br/>
            <a:r>
              <a:t>├── docs/                     [Formal Specifications]</a:t>
            </a:r>
            <a:br/>
            <a:r>
              <a:t>└── tests/                    [33 Verified Tests]</a:t>
            </a:r>
            <a:b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00" b="1">
                <a:solidFill>
                  <a:srgbClr val="1DB954"/>
                </a:solidFill>
                <a:latin typeface="Consolas"/>
              </a:defRPr>
            </a:pPr>
            <a:r>
              <a:t>MNIST DATASET</a:t>
            </a:r>
          </a:p>
          <a:p>
            <a:pPr>
              <a:defRPr sz="1800" b="1">
                <a:solidFill>
                  <a:srgbClr val="FFFFFF"/>
                </a:solidFill>
                <a:latin typeface="Segoe UI"/>
              </a:defRPr>
            </a:pPr>
            <a:r>
              <a:t>DATASET PROVENANCE, PARTITIONING &amp; ZERO-LEAKAGE HYGIENE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371600"/>
            <a:ext cx="5212080" cy="4846320"/>
          </a:xfrm>
          <a:prstGeom prst="rect">
            <a:avLst/>
          </a:prstGeom>
          <a:solidFill>
            <a:srgbClr val="121212"/>
          </a:solidFill>
          <a:ln w="12700">
            <a:solidFill>
              <a:srgbClr val="26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508760"/>
            <a:ext cx="484632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A1A1AA"/>
                </a:solidFill>
                <a:latin typeface="Consolas"/>
              </a:defRPr>
            </a:pPr>
            <a:r>
              <a:t>DATASET PROVENANCE &amp; PARTITIONING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874519"/>
            <a:ext cx="48463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1DB954"/>
                </a:solidFill>
                <a:latin typeface="Consolas"/>
              </a:defRPr>
            </a:pPr>
            <a:r>
              <a:t>CORPUS SPECIFICATION:</a:t>
            </a:r>
          </a:p>
          <a:p>
            <a:pPr>
              <a:defRPr sz="1000">
                <a:solidFill>
                  <a:srgbClr val="A1A1AA"/>
                </a:solidFill>
                <a:latin typeface="Segoe UI"/>
              </a:defRPr>
            </a:pPr>
            <a:r>
              <a:t>•  Origin: Yann LeCun, Corinna Cortes, Christopher Burges (1998).</a:t>
            </a:r>
          </a:p>
          <a:p>
            <a:pPr>
              <a:defRPr sz="1000">
                <a:solidFill>
                  <a:srgbClr val="A1A1AA"/>
                </a:solidFill>
                <a:latin typeface="Segoe UI"/>
              </a:defRPr>
            </a:pPr>
            <a:r>
              <a:t>•  Source: NIST Special Database 3 (high school students) and Special Database 19 (Census Bureau employees).</a:t>
            </a:r>
          </a:p>
          <a:p>
            <a:pPr>
              <a:defRPr sz="1000">
                <a:solidFill>
                  <a:srgbClr val="A1A1AA"/>
                </a:solidFill>
                <a:latin typeface="Segoe UI"/>
              </a:defRPr>
            </a:pPr>
            <a:r>
              <a:t>•  Total Available Instances: 70,000 monochrome digit glyphs.</a:t>
            </a:r>
          </a:p>
          <a:p>
            <a:pPr>
              <a:defRPr sz="1000">
                <a:solidFill>
                  <a:srgbClr val="A1A1AA"/>
                </a:solidFill>
                <a:latin typeface="Segoe UI"/>
              </a:defRPr>
            </a:pPr>
            <a:r>
              <a:t>•  Active Training Partition: 20,000 instances (configurable up to 57,000).</a:t>
            </a:r>
          </a:p>
          <a:p>
            <a:pPr>
              <a:defRPr sz="1000">
                <a:solidFill>
                  <a:srgbClr val="A1A1AA"/>
                </a:solidFill>
                <a:latin typeface="Segoe UI"/>
              </a:defRPr>
            </a:pPr>
            <a:r>
              <a:t>•  Validation / Tuning Partition: 3,000 instances.</a:t>
            </a:r>
          </a:p>
          <a:p>
            <a:pPr>
              <a:defRPr sz="1000">
                <a:solidFill>
                  <a:srgbClr val="A1A1AA"/>
                </a:solidFill>
                <a:latin typeface="Segoe UI"/>
              </a:defRPr>
            </a:pPr>
            <a:r>
              <a:t>•  Isolated Benchmark Test Set: 10,000 instances — STRICTLY ISOLATED.</a:t>
            </a:r>
          </a:p>
          <a:p>
            <a:br/>
            <a:pPr>
              <a:defRPr sz="1000" b="1">
                <a:solidFill>
                  <a:srgbClr val="FFB000"/>
                </a:solidFill>
                <a:latin typeface="Consolas"/>
              </a:defRPr>
            </a:pPr>
            <a:r>
              <a:t>ZERO-LEAKAGE HYGIENE PROTOCOL:</a:t>
            </a:r>
          </a:p>
          <a:p>
            <a:pPr>
              <a:defRPr sz="1000">
                <a:solidFill>
                  <a:srgbClr val="A1A1AA"/>
                </a:solidFill>
                <a:latin typeface="Segoe UI"/>
              </a:defRPr>
            </a:pPr>
            <a:r>
              <a:t>•  Air-Gapped Test Set: 10,000 test images are never exposed to training, feature fitting, or hyperparameter selection.</a:t>
            </a:r>
          </a:p>
          <a:p>
            <a:pPr>
              <a:defRPr sz="1000">
                <a:solidFill>
                  <a:srgbClr val="A1A1AA"/>
                </a:solidFill>
                <a:latin typeface="Segoe UI"/>
              </a:defRPr>
            </a:pPr>
            <a:r>
              <a:t>•  Deterministic Splitting: Globally seeded with RANDOM_SEED = 42.</a:t>
            </a:r>
          </a:p>
          <a:p>
            <a:pPr>
              <a:defRPr sz="1000">
                <a:solidFill>
                  <a:srgbClr val="A1A1AA"/>
                </a:solidFill>
                <a:latin typeface="Segoe UI"/>
              </a:defRPr>
            </a:pPr>
            <a:r>
              <a:t>•  Memory Disjointness: Validated via pytest asserting disjoint index arrays.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0" y="1371600"/>
            <a:ext cx="5212080" cy="4846320"/>
          </a:xfrm>
          <a:prstGeom prst="rect">
            <a:avLst/>
          </a:prstGeom>
          <a:solidFill>
            <a:srgbClr val="121212"/>
          </a:solidFill>
          <a:ln w="12700">
            <a:solidFill>
              <a:srgbClr val="26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0" y="1508760"/>
            <a:ext cx="484632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A1A1AA"/>
                </a:solidFill>
                <a:latin typeface="Consolas"/>
              </a:defRPr>
            </a:pPr>
            <a:r>
              <a:t>EMPIRICAL SAMPLE GRID (ARTIFACTS/DATA/SAMPLE_IMAGE_GRID.PNG)</a:t>
            </a:r>
          </a:p>
        </p:txBody>
      </p:sp>
      <p:pic>
        <p:nvPicPr>
          <p:cNvPr id="8" name="Picture 7" descr="sample_image_gri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920240"/>
            <a:ext cx="484632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00" b="1">
                <a:solidFill>
                  <a:srgbClr val="1DB954"/>
                </a:solidFill>
                <a:latin typeface="Consolas"/>
              </a:defRPr>
            </a:pPr>
            <a:r>
              <a:t>DATASET ATTRIBUTES</a:t>
            </a:r>
          </a:p>
          <a:p>
            <a:pPr>
              <a:defRPr sz="1800" b="1">
                <a:solidFill>
                  <a:srgbClr val="FFFFFF"/>
                </a:solidFill>
                <a:latin typeface="Segoe UI"/>
              </a:defRPr>
            </a:pPr>
            <a:r>
              <a:t>MATHEMATICAL FEATURE SPACES &amp; PIXEL INTENSITY MOMENTS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371600"/>
            <a:ext cx="5212080" cy="4846320"/>
          </a:xfrm>
          <a:prstGeom prst="rect">
            <a:avLst/>
          </a:prstGeom>
          <a:solidFill>
            <a:srgbClr val="121212"/>
          </a:solidFill>
          <a:ln w="12700">
            <a:solidFill>
              <a:srgbClr val="26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508760"/>
            <a:ext cx="484632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A1A1AA"/>
                </a:solidFill>
                <a:latin typeface="Consolas"/>
              </a:defRPr>
            </a:pPr>
            <a:r>
              <a:t>MATHEMATICAL SPACES &amp; REPRESENTATIONS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874519"/>
            <a:ext cx="48463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1DB954"/>
                </a:solidFill>
                <a:latin typeface="Consolas"/>
              </a:defRPr>
            </a:pPr>
            <a:r>
              <a:t>FORMAL SPACES:</a:t>
            </a:r>
          </a:p>
          <a:p>
            <a:pPr>
              <a:defRPr sz="950">
                <a:solidFill>
                  <a:srgbClr val="A1A1AA"/>
                </a:solidFill>
                <a:latin typeface="Consolas"/>
              </a:defRPr>
            </a:pPr>
            <a:r>
              <a:t>•  Image Tensor Space:  X ∈ [0.0, 1.0]^(28 × 28 × 1), dtype=float32</a:t>
            </a:r>
          </a:p>
          <a:p>
            <a:pPr>
              <a:defRPr sz="950">
                <a:solidFill>
                  <a:srgbClr val="A1A1AA"/>
                </a:solidFill>
                <a:latin typeface="Consolas"/>
              </a:defRPr>
            </a:pPr>
            <a:r>
              <a:t>•  Flattened Feature Space:  X_flat ∈ [0.0, 1.0]^784, dtype=float32</a:t>
            </a:r>
          </a:p>
          <a:p>
            <a:pPr>
              <a:defRPr sz="950">
                <a:solidFill>
                  <a:srgbClr val="A1A1AA"/>
                </a:solidFill>
                <a:latin typeface="Consolas"/>
              </a:defRPr>
            </a:pPr>
            <a:r>
              <a:t>•  Categorical Label Space:  y ∈ {0, 1, 2, ..., 9}, cardinality K=10</a:t>
            </a:r>
          </a:p>
          <a:p>
            <a:pPr>
              <a:defRPr sz="950">
                <a:solidFill>
                  <a:srgbClr val="A1A1AA"/>
                </a:solidFill>
                <a:latin typeface="Consolas"/>
              </a:defRPr>
            </a:pPr>
            <a:r>
              <a:t>•  Vectorization Operator: vec: ℝ^(28×28×1) → ℝ^784 via row-major index k = i · 28 + j</a:t>
            </a:r>
          </a:p>
          <a:p>
            <a:br/>
            <a:pPr>
              <a:defRPr sz="1000" b="1">
                <a:solidFill>
                  <a:srgbClr val="FFB000"/>
                </a:solidFill>
                <a:latin typeface="Consolas"/>
              </a:defRPr>
            </a:pPr>
            <a:r>
              <a:t>EMPIRICAL PIXEL MOMENTS &amp; SPARSITY:</a:t>
            </a:r>
          </a:p>
          <a:p>
            <a:pPr>
              <a:defRPr sz="1000">
                <a:solidFill>
                  <a:srgbClr val="A1A1AA"/>
                </a:solidFill>
                <a:latin typeface="Segoe UI"/>
              </a:defRPr>
            </a:pPr>
            <a:r>
              <a:t>•  Global Pixel Minimum: 0.0 (Pure Inactive Background)</a:t>
            </a:r>
          </a:p>
          <a:p>
            <a:pPr>
              <a:defRPr sz="1000">
                <a:solidFill>
                  <a:srgbClr val="A1A1AA"/>
                </a:solidFill>
                <a:latin typeface="Segoe UI"/>
              </a:defRPr>
            </a:pPr>
            <a:r>
              <a:t>•  Global Pixel Maximum: 1.0 (Normalized Peak Stroke Intensity)</a:t>
            </a:r>
          </a:p>
          <a:p>
            <a:pPr>
              <a:defRPr sz="1000">
                <a:solidFill>
                  <a:srgbClr val="A1A1AA"/>
                </a:solidFill>
                <a:latin typeface="Segoe UI"/>
              </a:defRPr>
            </a:pPr>
            <a:r>
              <a:t>•  Global Mean Intensity (μ): 0.1307</a:t>
            </a:r>
          </a:p>
          <a:p>
            <a:pPr>
              <a:defRPr sz="1000">
                <a:solidFill>
                  <a:srgbClr val="A1A1AA"/>
                </a:solidFill>
                <a:latin typeface="Segoe UI"/>
              </a:defRPr>
            </a:pPr>
            <a:r>
              <a:t>•  Global Standard Deviation (σ): 0.3081</a:t>
            </a:r>
          </a:p>
          <a:p>
            <a:pPr>
              <a:defRPr sz="1000">
                <a:solidFill>
                  <a:srgbClr val="A1A1AA"/>
                </a:solidFill>
                <a:latin typeface="Segoe UI"/>
              </a:defRPr>
            </a:pPr>
            <a:r>
              <a:t>•  Pure Inactive Pixel Ratio (0.0): 80.88% of total pixel mass</a:t>
            </a:r>
          </a:p>
          <a:p>
            <a:pPr>
              <a:defRPr sz="1000">
                <a:solidFill>
                  <a:srgbClr val="A1A1AA"/>
                </a:solidFill>
                <a:latin typeface="Segoe UI"/>
              </a:defRPr>
            </a:pPr>
            <a:r>
              <a:t>•  Active Stroke Ratio (&gt;0.05): 19.12% of total pixel mass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0" y="1371600"/>
            <a:ext cx="5212080" cy="4846320"/>
          </a:xfrm>
          <a:prstGeom prst="rect">
            <a:avLst/>
          </a:prstGeom>
          <a:solidFill>
            <a:srgbClr val="121212"/>
          </a:solidFill>
          <a:ln w="12700">
            <a:solidFill>
              <a:srgbClr val="26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0" y="1508760"/>
            <a:ext cx="484632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A1A1AA"/>
                </a:solidFill>
                <a:latin typeface="Consolas"/>
              </a:defRPr>
            </a:pPr>
            <a:r>
              <a:t>INTENSITY DISTRIBUTION (ARTIFACTS/DATA/PIXEL_INTENSITY_DISTRIBUTION.PNG)</a:t>
            </a:r>
          </a:p>
        </p:txBody>
      </p:sp>
      <p:pic>
        <p:nvPicPr>
          <p:cNvPr id="8" name="Picture 7" descr="pixel_intensity_distribu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920240"/>
            <a:ext cx="4846320" cy="1863969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00" b="1">
                <a:solidFill>
                  <a:srgbClr val="1DB954"/>
                </a:solidFill>
                <a:latin typeface="Consolas"/>
              </a:defRPr>
            </a:pPr>
            <a:r>
              <a:t>EXPLORATORY DATA ANALYSIS</a:t>
            </a:r>
          </a:p>
          <a:p>
            <a:pPr>
              <a:defRPr sz="1800" b="1">
                <a:solidFill>
                  <a:srgbClr val="FFFFFF"/>
                </a:solidFill>
                <a:latin typeface="Segoe UI"/>
              </a:defRPr>
            </a:pPr>
            <a:r>
              <a:t>EMPIRICAL EXPLORATORY DATA ANALYSIS &amp; CLASS PROTOTYPES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371600"/>
            <a:ext cx="5212080" cy="4846320"/>
          </a:xfrm>
          <a:prstGeom prst="rect">
            <a:avLst/>
          </a:prstGeom>
          <a:solidFill>
            <a:srgbClr val="121212"/>
          </a:solidFill>
          <a:ln w="12700">
            <a:solidFill>
              <a:srgbClr val="26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508760"/>
            <a:ext cx="484632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A1A1AA"/>
                </a:solidFill>
                <a:latin typeface="Consolas"/>
              </a:defRPr>
            </a:pPr>
            <a:r>
              <a:t>CLASS BALANCE (ARTIFACTS/DATA/CLASS_DISTRIBUTION.PNG)</a:t>
            </a:r>
          </a:p>
        </p:txBody>
      </p:sp>
      <p:pic>
        <p:nvPicPr>
          <p:cNvPr id="5" name="Picture 4" descr="class_distribu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920240"/>
            <a:ext cx="4846320" cy="2665476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6217920" y="1371600"/>
            <a:ext cx="5212080" cy="4846320"/>
          </a:xfrm>
          <a:prstGeom prst="rect">
            <a:avLst/>
          </a:prstGeom>
          <a:solidFill>
            <a:srgbClr val="121212"/>
          </a:solidFill>
          <a:ln w="12700">
            <a:solidFill>
              <a:srgbClr val="26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0" y="1508760"/>
            <a:ext cx="484632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A1A1AA"/>
                </a:solidFill>
                <a:latin typeface="Consolas"/>
              </a:defRPr>
            </a:pPr>
            <a:r>
              <a:t>MEAN PROTOTYPE HEATMAPS (ARTIFACTS/DATA/AVERAGE_IMAGE_PER_CLASS.PNG)</a:t>
            </a:r>
          </a:p>
        </p:txBody>
      </p:sp>
      <p:pic>
        <p:nvPicPr>
          <p:cNvPr id="8" name="Picture 7" descr="average_image_per_clas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0" y="1920240"/>
            <a:ext cx="4846320" cy="222123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00" b="1">
                <a:solidFill>
                  <a:srgbClr val="1DB954"/>
                </a:solidFill>
                <a:latin typeface="Consolas"/>
              </a:defRPr>
            </a:pPr>
            <a:r>
              <a:t>PREPROCESSING PIPELINE</a:t>
            </a:r>
          </a:p>
          <a:p>
            <a:pPr>
              <a:defRPr sz="1800" b="1">
                <a:solidFill>
                  <a:srgbClr val="FFFFFF"/>
                </a:solidFill>
                <a:latin typeface="Segoe UI"/>
              </a:defRPr>
            </a:pPr>
            <a:r>
              <a:t>THE 10-STAGE CANONICAL PREPROCESSING INVARIANT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371600"/>
            <a:ext cx="6400800" cy="4846320"/>
          </a:xfrm>
          <a:prstGeom prst="rect">
            <a:avLst/>
          </a:prstGeom>
          <a:solidFill>
            <a:srgbClr val="121212"/>
          </a:solidFill>
          <a:ln w="12700">
            <a:solidFill>
              <a:srgbClr val="26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508760"/>
            <a:ext cx="603504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A1A1AA"/>
                </a:solidFill>
                <a:latin typeface="Consolas"/>
              </a:defRPr>
            </a:pPr>
            <a:r>
              <a:t>ALGORITHMIC INVARIANT EXECUTION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874519"/>
            <a:ext cx="603504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1DB954"/>
                </a:solidFill>
                <a:latin typeface="Consolas"/>
              </a:defRPr>
            </a:pPr>
            <a:r>
              <a:t>STEP 1: MULTI-FORMAT DECODING</a:t>
            </a:r>
          </a:p>
          <a:p>
            <a:pPr>
              <a:defRPr sz="900">
                <a:solidFill>
                  <a:srgbClr val="A1A1AA"/>
                </a:solidFill>
                <a:latin typeface="Segoe UI"/>
              </a:defRPr>
            </a:pPr>
            <a:r>
              <a:t>Decodes Base64 data URLs, raw image bytes, PIL objects, or NumPy matrices into 2D grayscale.</a:t>
            </a:r>
          </a:p>
          <a:p>
            <a:pPr>
              <a:defRPr sz="950" b="1">
                <a:solidFill>
                  <a:srgbClr val="1DB954"/>
                </a:solidFill>
                <a:latin typeface="Consolas"/>
              </a:defRPr>
            </a:pPr>
            <a:r>
              <a:t>STEP 2: CONTRAST &amp; BACKGROUND POLARITY</a:t>
            </a:r>
          </a:p>
          <a:p>
            <a:pPr>
              <a:defRPr sz="900">
                <a:solidFill>
                  <a:srgbClr val="A1A1AA"/>
                </a:solidFill>
                <a:latin typeface="Segoe UI"/>
              </a:defRPr>
            </a:pPr>
            <a:r>
              <a:t>Samples 4 corner patches; if mean intensity &gt; 127, inverts image so background is strictly 0 and stroke is bright.</a:t>
            </a:r>
          </a:p>
          <a:p>
            <a:pPr>
              <a:defRPr sz="950" b="1">
                <a:solidFill>
                  <a:srgbClr val="1DB954"/>
                </a:solidFill>
                <a:latin typeface="Consolas"/>
              </a:defRPr>
            </a:pPr>
            <a:r>
              <a:t>STEP 3: FOREGROUND BINARIZATION</a:t>
            </a:r>
          </a:p>
          <a:p>
            <a:pPr>
              <a:defRPr sz="900">
                <a:solidFill>
                  <a:srgbClr val="A1A1AA"/>
                </a:solidFill>
                <a:latin typeface="Segoe UI"/>
              </a:defRPr>
            </a:pPr>
            <a:r>
              <a:t>Fixed threshold (tau=25) or Otsu adaptive binarization isolates stroke pixels from background noise.</a:t>
            </a:r>
          </a:p>
          <a:p>
            <a:pPr>
              <a:defRPr sz="950" b="1">
                <a:solidFill>
                  <a:srgbClr val="1DB954"/>
                </a:solidFill>
                <a:latin typeface="Consolas"/>
              </a:defRPr>
            </a:pPr>
            <a:r>
              <a:t>STEP 4: TIGHT BOUNDING BOX</a:t>
            </a:r>
          </a:p>
          <a:p>
            <a:pPr>
              <a:defRPr sz="900">
                <a:solidFill>
                  <a:srgbClr val="A1A1AA"/>
                </a:solidFill>
                <a:latin typeface="Segoe UI"/>
              </a:defRPr>
            </a:pPr>
            <a:r>
              <a:t>Extracts tight coordinates (x, y, w, h). If active pixels &lt; 8, immediately fails closed as empty.</a:t>
            </a:r>
          </a:p>
          <a:p>
            <a:pPr>
              <a:defRPr sz="950" b="1">
                <a:solidFill>
                  <a:srgbClr val="1DB954"/>
                </a:solidFill>
                <a:latin typeface="Consolas"/>
              </a:defRPr>
            </a:pPr>
            <a:r>
              <a:t>STEP 5: ASPECT-PRESERVING SCALING</a:t>
            </a:r>
          </a:p>
          <a:p>
            <a:pPr>
              <a:defRPr sz="900">
                <a:solidFill>
                  <a:srgbClr val="A1A1AA"/>
                </a:solidFill>
                <a:latin typeface="Segoe UI"/>
              </a:defRPr>
            </a:pPr>
            <a:r>
              <a:t>Fits maximum dimension into an inner 20x20 box (s = 20 / max(w, h)) using INTER_AREA downsampling.</a:t>
            </a:r>
          </a:p>
          <a:p>
            <a:pPr>
              <a:defRPr sz="950" b="1">
                <a:solidFill>
                  <a:srgbClr val="1DB954"/>
                </a:solidFill>
                <a:latin typeface="Consolas"/>
              </a:defRPr>
            </a:pPr>
            <a:r>
              <a:t>STEP 6 &amp; 7: MOMENTS &amp; CENTROIDING</a:t>
            </a:r>
          </a:p>
          <a:p>
            <a:pPr>
              <a:defRPr sz="900">
                <a:solidFill>
                  <a:srgbClr val="A1A1AA"/>
                </a:solidFill>
                <a:latin typeface="Segoe UI"/>
              </a:defRPr>
            </a:pPr>
            <a:r>
              <a:t>Computes spatial moments m00, m10, m01. Translates center-of-mass (x_c, y_c) to canonical center (13.5, 13.5).</a:t>
            </a:r>
          </a:p>
          <a:p>
            <a:pPr>
              <a:defRPr sz="950" b="1">
                <a:solidFill>
                  <a:srgbClr val="1DB954"/>
                </a:solidFill>
                <a:latin typeface="Consolas"/>
              </a:defRPr>
            </a:pPr>
            <a:r>
              <a:t>STEP 8 &amp; 9: SUB-PIXEL WARPING &amp; NORMALIZATION</a:t>
            </a:r>
          </a:p>
          <a:p>
            <a:pPr>
              <a:defRPr sz="900">
                <a:solidFill>
                  <a:srgbClr val="A1A1AA"/>
                </a:solidFill>
                <a:latin typeface="Segoe UI"/>
              </a:defRPr>
            </a:pPr>
            <a:r>
              <a:t>Applies cv2.warpAffine with borderValue=0 and normalizes to [0.0, 1.0] float32.</a:t>
            </a:r>
          </a:p>
          <a:p>
            <a:pPr>
              <a:defRPr sz="950" b="1">
                <a:solidFill>
                  <a:srgbClr val="1DB954"/>
                </a:solidFill>
                <a:latin typeface="Consolas"/>
              </a:defRPr>
            </a:pPr>
            <a:r>
              <a:t>STEP 10: STRICT TENSOR RESHAPE</a:t>
            </a:r>
          </a:p>
          <a:p>
            <a:pPr>
              <a:defRPr sz="900">
                <a:solidFill>
                  <a:srgbClr val="A1A1AA"/>
                </a:solidFill>
                <a:latin typeface="Segoe UI"/>
              </a:defRPr>
            </a:pPr>
            <a:r>
              <a:t>Emits tensor of exact shape (1, 28, 28, 1) float32 for model inference.</a:t>
            </a:r>
          </a:p>
        </p:txBody>
      </p:sp>
      <p:sp>
        <p:nvSpPr>
          <p:cNvPr id="6" name="Rectangle 5"/>
          <p:cNvSpPr/>
          <p:nvPr/>
        </p:nvSpPr>
        <p:spPr>
          <a:xfrm>
            <a:off x="7406640" y="1371600"/>
            <a:ext cx="4023360" cy="4846320"/>
          </a:xfrm>
          <a:prstGeom prst="rect">
            <a:avLst/>
          </a:prstGeom>
          <a:solidFill>
            <a:srgbClr val="121212"/>
          </a:solidFill>
          <a:ln w="12700">
            <a:solidFill>
              <a:srgbClr val="26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589519" y="1508760"/>
            <a:ext cx="36576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A1A1AA"/>
                </a:solidFill>
                <a:latin typeface="Consolas"/>
              </a:defRPr>
            </a:pPr>
            <a:r>
              <a:t>REPRESENTATIVE CENTROIDS VS OUTLIERS</a:t>
            </a:r>
          </a:p>
        </p:txBody>
      </p:sp>
      <p:pic>
        <p:nvPicPr>
          <p:cNvPr id="8" name="Picture 7" descr="representative_examples_per_clas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9520" y="1920240"/>
            <a:ext cx="3657600" cy="1024128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00" b="1">
                <a:solidFill>
                  <a:srgbClr val="1DB954"/>
                </a:solidFill>
                <a:latin typeface="Consolas"/>
              </a:defRPr>
            </a:pPr>
            <a:r>
              <a:t>ENGINEERING PHILOSOPHY</a:t>
            </a:r>
          </a:p>
          <a:p>
            <a:pPr>
              <a:defRPr sz="1800" b="1">
                <a:solidFill>
                  <a:srgbClr val="FFFFFF"/>
                </a:solidFill>
                <a:latin typeface="Segoe UI"/>
              </a:defRPr>
            </a:pPr>
            <a:r>
              <a:t>FIVE SYNCHRONIZED DELIVERABLES &amp; SCIENTIFIC RIGOUR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371600"/>
            <a:ext cx="10698480" cy="868680"/>
          </a:xfrm>
          <a:prstGeom prst="rect">
            <a:avLst/>
          </a:prstGeom>
          <a:solidFill>
            <a:srgbClr val="121212"/>
          </a:solidFill>
          <a:ln w="12700">
            <a:solidFill>
              <a:srgbClr val="26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508760"/>
            <a:ext cx="10332719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A1A1AA"/>
                </a:solidFill>
                <a:latin typeface="Consolas"/>
              </a:defRPr>
            </a:pPr>
            <a:r>
              <a:t>1. CODE + DOCS + PRESENTATION INVARIANT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737360"/>
            <a:ext cx="10332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A1A1AA"/>
                </a:solidFill>
                <a:latin typeface="Segoe UI"/>
              </a:defRPr>
            </a:pPr>
            <a:r>
              <a:t>No code is merged without updating documentation, experiment logs, and presentation slides simultaneously. Deliverables never drift out of sync.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2377439"/>
            <a:ext cx="10698480" cy="868680"/>
          </a:xfrm>
          <a:prstGeom prst="rect">
            <a:avLst/>
          </a:prstGeom>
          <a:solidFill>
            <a:srgbClr val="121212"/>
          </a:solidFill>
          <a:ln w="12700">
            <a:solidFill>
              <a:srgbClr val="26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514599"/>
            <a:ext cx="10332719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A1A1AA"/>
                </a:solidFill>
                <a:latin typeface="Consolas"/>
              </a:defRPr>
            </a:pPr>
            <a:r>
              <a:t>2. ZERO METRIC FABRICATION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743199"/>
            <a:ext cx="10332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A1A1AA"/>
                </a:solidFill>
                <a:latin typeface="Segoe UI"/>
              </a:defRPr>
            </a:pPr>
            <a:r>
              <a:t>Every single accuracy percentage, latency millisecond, parameter count, and confusion matrix originates from executable code. No fabricated numbers.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3383279"/>
            <a:ext cx="10698480" cy="868680"/>
          </a:xfrm>
          <a:prstGeom prst="rect">
            <a:avLst/>
          </a:prstGeom>
          <a:solidFill>
            <a:srgbClr val="121212"/>
          </a:solidFill>
          <a:ln w="12700">
            <a:solidFill>
              <a:srgbClr val="26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20439"/>
            <a:ext cx="10332719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A1A1AA"/>
                </a:solidFill>
                <a:latin typeface="Consolas"/>
              </a:defRPr>
            </a:pPr>
            <a:r>
              <a:t>3. FAIL-CLOSED EPISTEMIC SAFETY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749039"/>
            <a:ext cx="10332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A1A1AA"/>
                </a:solidFill>
                <a:latin typeface="Segoe UI"/>
              </a:defRPr>
            </a:pPr>
            <a:r>
              <a:t>Rather than emitting deceptive high-confidence guesses on malformed inputs, the system fails closed at the quality gatekeeper.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31520" y="4389120"/>
            <a:ext cx="10698480" cy="868680"/>
          </a:xfrm>
          <a:prstGeom prst="rect">
            <a:avLst/>
          </a:prstGeom>
          <a:solidFill>
            <a:srgbClr val="121212"/>
          </a:solidFill>
          <a:ln w="12700">
            <a:solidFill>
              <a:srgbClr val="26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4526280"/>
            <a:ext cx="10332719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A1A1AA"/>
                </a:solidFill>
                <a:latin typeface="Consolas"/>
              </a:defRPr>
            </a:pPr>
            <a:r>
              <a:t>4. ARCHITECTURAL MODULARITY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4754880"/>
            <a:ext cx="10332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A1A1AA"/>
                </a:solidFill>
                <a:latin typeface="Segoe UI"/>
              </a:defRPr>
            </a:pPr>
            <a:r>
              <a:t>Centralized configuration (src/config.py) eliminates magic numbers. Discrete packages for data, models, intelligence, and XAI prevent tight coupling.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31520" y="5394959"/>
            <a:ext cx="10698480" cy="868680"/>
          </a:xfrm>
          <a:prstGeom prst="rect">
            <a:avLst/>
          </a:prstGeom>
          <a:solidFill>
            <a:srgbClr val="121212"/>
          </a:solidFill>
          <a:ln w="12700">
            <a:solidFill>
              <a:srgbClr val="26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5532120"/>
            <a:ext cx="10332719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A1A1AA"/>
                </a:solidFill>
                <a:latin typeface="Consolas"/>
              </a:defRPr>
            </a:pPr>
            <a:r>
              <a:t>5. EXECUTABLE VERIFICATION HARNESS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5760720"/>
            <a:ext cx="10332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A1A1AA"/>
                </a:solidFill>
                <a:latin typeface="Segoe UI"/>
              </a:defRPr>
            </a:pPr>
            <a:r>
              <a:t>A comprehensive test suite of 33 unit tests validates every invariant from moments and bounding boxes to probability simplex bounds.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00" b="1">
                <a:solidFill>
                  <a:srgbClr val="1DB954"/>
                </a:solidFill>
                <a:latin typeface="Consolas"/>
              </a:defRPr>
            </a:pPr>
            <a:r>
              <a:t>CURRENT PHASE 01 STATUS</a:t>
            </a:r>
          </a:p>
          <a:p>
            <a:pPr>
              <a:defRPr sz="1800" b="1">
                <a:solidFill>
                  <a:srgbClr val="FFFFFF"/>
                </a:solidFill>
                <a:latin typeface="Segoe UI"/>
              </a:defRPr>
            </a:pPr>
            <a:r>
              <a:t>MILESTONE AUDIT, ARTIFACTS &amp; NEXT PHASE READINESS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371600"/>
            <a:ext cx="5212080" cy="4846320"/>
          </a:xfrm>
          <a:prstGeom prst="rect">
            <a:avLst/>
          </a:prstGeom>
          <a:solidFill>
            <a:srgbClr val="121212"/>
          </a:solidFill>
          <a:ln w="12700">
            <a:solidFill>
              <a:srgbClr val="26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508760"/>
            <a:ext cx="484632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A1A1AA"/>
                </a:solidFill>
                <a:latin typeface="Consolas"/>
              </a:defRPr>
            </a:pPr>
            <a:r>
              <a:t>COMPLETED PHASE 01 DELIVERABLES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874519"/>
            <a:ext cx="48463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>
                <a:solidFill>
                  <a:srgbClr val="1DB954"/>
                </a:solidFill>
                <a:latin typeface="Consolas"/>
              </a:defRPr>
            </a:pPr>
            <a:r>
              <a:t>[COMPLETED] Centralized Configuration (src/config.py) — Seeds, dimensions, thresholds.</a:t>
            </a:r>
          </a:p>
          <a:p>
            <a:pPr>
              <a:defRPr sz="950">
                <a:solidFill>
                  <a:srgbClr val="1DB954"/>
                </a:solidFill>
                <a:latin typeface="Consolas"/>
              </a:defRPr>
            </a:pPr>
            <a:r>
              <a:t>[COMPLETED] MNIST Dataset Pipeline (src/data/dataset.py) — 20k train, 3k val, 10k isolated test.</a:t>
            </a:r>
          </a:p>
          <a:p>
            <a:pPr>
              <a:defRPr sz="950">
                <a:solidFill>
                  <a:srgbClr val="1DB954"/>
                </a:solidFill>
                <a:latin typeface="Consolas"/>
              </a:defRPr>
            </a:pPr>
            <a:r>
              <a:t>[COMPLETED] Empirical EDA Engine (src/data/eda.py) — 5 high-resolution figures in artifacts/data/.</a:t>
            </a:r>
          </a:p>
          <a:p>
            <a:pPr>
              <a:defRPr sz="950">
                <a:solidFill>
                  <a:srgbClr val="1DB954"/>
                </a:solidFill>
                <a:latin typeface="Consolas"/>
              </a:defRPr>
            </a:pPr>
            <a:r>
              <a:t>[COMPLETED] Canonical Preprocessing Invariant (src/preprocessing/canonical.py) — (1, 28, 28, 1) tensor.</a:t>
            </a:r>
          </a:p>
          <a:p>
            <a:pPr>
              <a:defRPr sz="950">
                <a:solidFill>
                  <a:srgbClr val="1DB954"/>
                </a:solidFill>
                <a:latin typeface="Consolas"/>
              </a:defRPr>
            </a:pPr>
            <a:r>
              <a:t>[COMPLETED] Comprehensive Test Suite — 33/33 tests passing (tests/test_preprocessing.py, test_data.py).</a:t>
            </a:r>
          </a:p>
          <a:p>
            <a:pPr>
              <a:defRPr sz="950">
                <a:solidFill>
                  <a:srgbClr val="1DB954"/>
                </a:solidFill>
                <a:latin typeface="Consolas"/>
              </a:defRPr>
            </a:pPr>
            <a:r>
              <a:t>[COMPLETED] Formal Documentation — DATASET.md, PREPROCESSING.md, EXPERIMENT_PROTOCOL.md.</a:t>
            </a:r>
          </a:p>
          <a:p>
            <a:pPr>
              <a:defRPr sz="950">
                <a:solidFill>
                  <a:srgbClr val="1DB954"/>
                </a:solidFill>
                <a:latin typeface="Consolas"/>
              </a:defRPr>
            </a:pPr>
            <a:r>
              <a:t>[COMPLETED] Scientific Presentation — 10-slide PPTX with speaker notes + interactive HTML slides.</a:t>
            </a:r>
          </a:p>
          <a:p>
            <a:pPr>
              <a:defRPr sz="950">
                <a:solidFill>
                  <a:srgbClr val="1DB954"/>
                </a:solidFill>
                <a:latin typeface="Consolas"/>
              </a:defRPr>
            </a:pPr>
            <a:r>
              <a:t>[COMPLETED] Deliverable Manifest — artifacts/PHASE_01_MANIFEST.json.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0" y="1371600"/>
            <a:ext cx="5212080" cy="4846320"/>
          </a:xfrm>
          <a:prstGeom prst="rect">
            <a:avLst/>
          </a:prstGeom>
          <a:solidFill>
            <a:srgbClr val="121212"/>
          </a:solidFill>
          <a:ln w="12700">
            <a:solidFill>
              <a:srgbClr val="26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0" y="1508760"/>
            <a:ext cx="484632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A1A1AA"/>
                </a:solidFill>
                <a:latin typeface="Consolas"/>
              </a:defRPr>
            </a:pPr>
            <a:r>
              <a:t>PHASE 02 DEPENDENCIES &amp; HAND-OFF CONTRACT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1874519"/>
            <a:ext cx="48463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FFB000"/>
                </a:solidFill>
                <a:latin typeface="Consolas"/>
              </a:defRPr>
            </a:pPr>
            <a:r>
              <a:t>READINESS CRITERIA FOR PHASE 02:</a:t>
            </a:r>
          </a:p>
          <a:p>
            <a:pPr>
              <a:defRPr sz="1000">
                <a:solidFill>
                  <a:srgbClr val="A1A1AA"/>
                </a:solidFill>
                <a:latin typeface="Segoe UI"/>
              </a:defRPr>
            </a:pPr>
            <a:r>
              <a:t>•  Clean Repository State: Working tree clean, all changes committed.</a:t>
            </a:r>
          </a:p>
          <a:p>
            <a:pPr>
              <a:defRPr sz="1000">
                <a:solidFill>
                  <a:srgbClr val="A1A1AA"/>
                </a:solidFill>
                <a:latin typeface="Segoe UI"/>
              </a:defRPr>
            </a:pPr>
            <a:r>
              <a:t>•  Zero Phase 02 Work Pre-empted: No Phase 02 tasks started prematurely.</a:t>
            </a:r>
          </a:p>
          <a:p>
            <a:pPr>
              <a:defRPr sz="1000">
                <a:solidFill>
                  <a:srgbClr val="A1A1AA"/>
                </a:solidFill>
                <a:latin typeface="Segoe UI"/>
              </a:defRPr>
            </a:pPr>
            <a:r>
              <a:t>•  Stable Invariant Contract: Next agent can immediately call canonical_preprocess_tensor() with guaranteed shape (1, 28, 28, 1) float32 in [0, 1].</a:t>
            </a:r>
          </a:p>
          <a:p>
            <a:pPr>
              <a:defRPr sz="1000">
                <a:solidFill>
                  <a:srgbClr val="A1A1AA"/>
                </a:solidFill>
                <a:latin typeface="Segoe UI"/>
              </a:defRPr>
            </a:pPr>
            <a:r>
              <a:t>•  Deterministic Dataset Partitions: pipeline.get_tensors() and get_flat_features() ready for model consumption.</a:t>
            </a:r>
          </a:p>
          <a:p>
            <a:pPr>
              <a:defRPr sz="1000">
                <a:solidFill>
                  <a:srgbClr val="A1A1AA"/>
                </a:solidFill>
                <a:latin typeface="Segoe UI"/>
              </a:defRPr>
            </a:pPr>
            <a:r>
              <a:t>•  Phase 02 Focus: Systematic Model Architectures, Training Optimizations, Hyperparameter Sweeps, and Deep Residual Benchmarking.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